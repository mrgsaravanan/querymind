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b63c5c0-dccf-cd39-e8d6-d0e184afc00d}">
          <p14:sldIdLst>
            <p14:sldId id="256"/>
            <p14:sldId id="257"/>
          </p14:sldIdLst>
        </p14:section>
        <p14:section name="Architecture" id="{6d552125-6a29-5c7a-9fe9-17d17b294984}">
          <p14:sldIdLst>
            <p14:sldId id="258"/>
            <p14:sldId id="259"/>
            <p14:sldId id="260"/>
            <p14:sldId id="261"/>
          </p14:sldIdLst>
        </p14:section>
        <p14:section name="Demo" id="{f96e3244-f6d3-e4c5-43fa-437cdc1f22a1}">
          <p14:sldIdLst>
            <p14:sldId id="262"/>
            <p14:sldId id="263"/>
            <p14:sldId id="264"/>
          </p14:sldIdLst>
        </p14:section>
        <p14:section name="Results and deployment" id="{09c1afc2-8d13-1afb-2778-aef5b86b21fe}">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QueryMind AI lets a business user type a question in plain English and get a result table and a short summary back, with no SQL. Data engineers manage the schema, examples, guardrails, models and logs from an Admin UI. This deck covers the architecture first, then a five-minute demo, then the measured results and the hosting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stakeholders understand their domain but are blocked by SQL, and analysts are buried in simple requests. QueryMind removes that bottleneck. The four numbers on the right are all measured on this project: 80 percent execution accuracy on a 25-question test set (this is after one prompt tweak, more on the results slide), 28 of 28 guardrail attacks blocked, 220 automated tests, and roughly 10 to 15 seconds for a fresh question through the Claude subscription.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pipeline. A question flows through seven stages: it is classified, linked to real tables and columns, matched with similar solved examples, turned into SQL by the model, validated, executed on a read-only connection, and formatted. Each stage has typed input and output models and can be called and tested on its own, so there are unit tests per stage. Three safety valves are shown at the bottom: unsupported intents never reach the generator, a failed validation sends the error back for exactly one retry, and a database error triggers one self-healing retry.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The browser runs the Next.js web UI. It talks to a FastAPI backend, which holds the orchestrator and the admin endpoints, plus the protections for public use. The backend uses four services: the language model, which can be your Claude subscription through the CLI, the Anthropic API, OpenAI or Ollama; ChromaDB for the example index and the semantic cache; admin.db for everything admins edit; and business.db, which holds the data being queried and is opened read-only. Only the CSV importer ever writes to the business database, and it uses its own separate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layer is trusted on its own. The keyword check catches obvious destructive requests instantly. The validator is the main control and works on the parsed syntax tree rather than text matching, so a DELETE hidden in a CTE is caught while a column named updated_at is not a false alarm. Even if the validator were bypassed, the database connection is read-only. Sensitive columns are removed from everything the AI sees. In a 28-attack test suite, covering direct SQL, stacked queries, comment and case tricks, CTE-wrapped writes, prompt injections and PII requests, all 28 were blocked and the database was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UI has six panels and every change persists to the admin database and applies to the next request, with no restart. Schema Manager and Examples shape what the model knows. Tables lets you add your own data from a CSV. Guardrails and Model Config control behaviour. Query Logs gives full traceability and CSV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five minutes total. Step 1: ask the revenue question; point out the sortable table, the bar chart, the summary, and the Did you mean buttons because revenue can mean two columns. Step 2: open Show SQL, switch on Explain mode, and choose PostgreSQL under Also show SQL as. Step 3: type Delete all orders from 2024 and show the instant refusal. Step 4: go to Admin, Tables, upload suppliers.csv, show that rating was detected as a number, founded as a date, the zip code kept as text, and email and phone were pre-flagged as sensitive; import it, then ask which suppliers have a rating above 4 and note that email and phone never appear. Step 5: in Guardrails set max rows to 5, ask any listing question and get 5 rows, then show the Logs panel and export the CSV. Each fresh question takes about 10 to 15 seconds on the subscription provider, so ask the first question early; repeated questions come back instantly from the semantic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results from the seeded database: 1,200 customers, 1,000 products, 5,000 orders and about 10,000 order lines. Note the convention captured in the domain notes: revenue by product or category uses the line total from the order items and excludes cancelled orders, while revenue by customer, country or month uses the order total. The linker flags this ambiguity, so the user sees Did you mean buttons and can resubmit with a choice. The SQL box shows the query the model wrote, shortened to fit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short proofs. First, a destructive request is refused instantly, before any AI call. Second, customer email and phone are hidden everywhere, even with SELECT star, because the validator expands stars using only non-sensitive columns. Third, the CSV importer: it detects types, keeps padded values like zip codes as text, suggests which columns are personal data, and the new table can be queried immediately. All three were verified in a real browser against the running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harness runs 25 questions with ground-truth SQL, executes both the generated and the expected SQL on the seeded database, and compares the result sets row for row. The first live run, using the Claude subscription, scored 72 percent. Failures were mostly convention issues: the model excluded cancelled orders where my ground truth did not. After clarifying one note, accuracy rose to 80 percent, with the join and simple categories improving. I want to be upfront that this second run is on the same question set, so it is optimistic. The remaining misses are extra helpful columns or a label format difference. The guardrail suite scored 28 of 28 and the database fingerprint was identical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paths are prepared in the repo. Vercel plus Render is the easiest. A single Hetzner server with docker compose is the cheapest. Railway sits in between with usage-based pricing. The backend needs about 0.9 GB of memory because of the embedding model, so very small servers will not work. For a public site the Claude subscription cannot be used, because its login is personal, so an Anthropic API key is required. To protect that spend, the app has a per-visitor hourly limit, a daily cap across all visitors, and an admin token that locks the admin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straightforward about limits: only SQLite runs end to end; the admin area uses one shared token; the schema linker is keyword and synonym based; and the accuracy figure comes from a single 25-question suite. Next steps are per-user login, read-only roles for PostgreSQL and MySQL, a feedback loop that turns thumbs-up answers into examples, and using a cheaper model for the classifier and summary stages, which would cut cost by roughly 28 percent. The code, README and deployment guides are in the GitHub repo.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675120" cy="15544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611880"/>
            <a:ext cx="6675120" cy="128016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tx2"/>
                </a:solidFill>
              </a:rPr>
              <a:t>QueryMind AI  |  Architecture and demo</a:t>
            </a:r>
            <a:endParaRPr lang="en-US" sz="1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5E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675120" cy="1554480"/>
          </a:xfrm>
          <a:prstGeom prst="rect">
            <a:avLst/>
          </a:prstGeom>
          <a:noFill/>
          <a:ln/>
        </p:spPr>
        <p:txBody>
          <a:bodyPr wrap="square" lIns="0" tIns="0" rIns="0" bIns="0" rtlCol="0" anchor="b"/>
          <a:lstStyle/>
          <a:p>
            <a:pPr algn="l" indent="0" marL="0">
              <a:buNone/>
            </a:pPr>
            <a:r>
              <a:rPr lang="en-US" sz="5400" b="1" dirty="0">
                <a:solidFill>
                  <a:schemeClr val="bg1"/>
                </a:solidFill>
              </a:rPr>
              <a:t>QueryMind AI</a:t>
            </a:r>
            <a:endParaRPr lang="en-US" sz="5400" dirty="0"/>
          </a:p>
        </p:txBody>
      </p:sp>
      <p:sp>
        <p:nvSpPr>
          <p:cNvPr id="3" name="Text 0"/>
          <p:cNvSpPr/>
          <p:nvPr>
            <p:ph idx="101" type="body" hasCustomPrompt="1"/>
          </p:nvPr>
        </p:nvSpPr>
        <p:spPr>
          <a:xfrm>
            <a:off x="731520" y="3611880"/>
            <a:ext cx="6675120" cy="1280160"/>
          </a:xfrm>
          <a:prstGeom prst="rect">
            <a:avLst/>
          </a:prstGeom>
          <a:noFill/>
          <a:ln/>
        </p:spPr>
        <p:txBody>
          <a:bodyPr wrap="square" lIns="0" tIns="0" rIns="0" bIns="0" rtlCol="0" anchor="t"/>
          <a:lstStyle/>
          <a:p>
            <a:pPr algn="l" indent="0" marL="0">
              <a:buNone/>
            </a:pPr>
            <a:r>
              <a:rPr lang="en-US" sz="2200" dirty="0">
                <a:solidFill>
                  <a:schemeClr val="bg2"/>
                </a:solidFill>
              </a:rPr>
              <a:t>Ask your data questions in plain English. A Text-to-SQL platform with an Admin UI.</a:t>
            </a:r>
            <a:endParaRPr lang="en-US" sz="2200" dirty="0"/>
          </a:p>
        </p:txBody>
      </p:sp>
      <p:sp>
        <p:nvSpPr>
          <p:cNvPr id="4" name="Text 2"/>
          <p:cNvSpPr txBox="1"/>
          <p:nvPr/>
        </p:nvSpPr>
        <p:spPr>
          <a:xfrm>
            <a:off x="731520" y="5760720"/>
            <a:ext cx="5486400" cy="365760"/>
          </a:xfrm>
          <a:prstGeom prst="rect">
            <a:avLst/>
          </a:prstGeom>
          <a:noFill/>
          <a:ln/>
        </p:spPr>
        <p:txBody>
          <a:bodyPr wrap="square" lIns="0" tIns="0" rIns="0" bIns="0" rtlCol="0" anchor="ctr"/>
          <a:lstStyle/>
          <a:p>
            <a:pPr indent="0" marL="0">
              <a:buNone/>
            </a:pPr>
            <a:r>
              <a:rPr lang="en-US" sz="1600" dirty="0">
                <a:solidFill>
                  <a:schemeClr val="bg2"/>
                </a:solidFill>
              </a:rPr>
              <a:t>Architecture and demo</a:t>
            </a:r>
            <a:endParaRPr lang="en-US" sz="1600" dirty="0"/>
          </a:p>
        </p:txBody>
      </p:sp>
      <p:sp>
        <p:nvSpPr>
          <p:cNvPr id="5" name="Illustration card"/>
          <p:cNvSpPr/>
          <p:nvPr/>
        </p:nvSpPr>
        <p:spPr>
          <a:xfrm>
            <a:off x="7955280" y="1325880"/>
            <a:ext cx="3749040" cy="4114800"/>
          </a:xfrm>
          <a:prstGeom prst="roundRect">
            <a:avLst>
              <a:gd name="adj" fmla="val 2927"/>
            </a:avLst>
          </a:prstGeom>
          <a:solidFill>
            <a:schemeClr val="bg1"/>
          </a:solidFill>
          <a:ln w="12700">
            <a:solidFill>
              <a:schemeClr val="bg1"/>
            </a:solidFill>
            <a:prstDash val="solid"/>
          </a:ln>
        </p:spPr>
      </p:sp>
      <p:sp>
        <p:nvSpPr>
          <p:cNvPr id="6" name="Question bubble"/>
          <p:cNvSpPr/>
          <p:nvPr/>
        </p:nvSpPr>
        <p:spPr>
          <a:xfrm>
            <a:off x="8229600" y="1600200"/>
            <a:ext cx="3200400" cy="868680"/>
          </a:xfrm>
          <a:prstGeom prst="roundRect">
            <a:avLst>
              <a:gd name="adj" fmla="val 12632"/>
            </a:avLst>
          </a:prstGeom>
          <a:solidFill>
            <a:schemeClr val="accent1"/>
          </a:solidFill>
          <a:ln w="12700">
            <a:solidFill>
              <a:schemeClr val="accent1"/>
            </a:solidFill>
            <a:prstDash val="solid"/>
          </a:ln>
        </p:spPr>
      </p:sp>
      <p:sp>
        <p:nvSpPr>
          <p:cNvPr id="7" name="Text 5"/>
          <p:cNvSpPr txBox="1"/>
          <p:nvPr/>
        </p:nvSpPr>
        <p:spPr>
          <a:xfrm>
            <a:off x="8366760" y="1600200"/>
            <a:ext cx="2926080" cy="868680"/>
          </a:xfrm>
          <a:prstGeom prst="rect">
            <a:avLst/>
          </a:prstGeom>
          <a:noFill/>
          <a:ln/>
        </p:spPr>
        <p:txBody>
          <a:bodyPr wrap="square" lIns="0" tIns="0" rIns="0" bIns="0" rtlCol="0" anchor="ctr"/>
          <a:lstStyle/>
          <a:p>
            <a:pPr indent="0" marL="0">
              <a:buNone/>
            </a:pPr>
            <a:r>
              <a:rPr lang="en-US" sz="1500" dirty="0">
                <a:solidFill>
                  <a:schemeClr val="bg1"/>
                </a:solidFill>
              </a:rPr>
              <a:t>What is the total revenue by product category?</a:t>
            </a:r>
            <a:endParaRPr lang="en-US" sz="15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8229600" y="2743200"/>
          <a:ext cx="3200400" cy="914400"/>
        </p:xfrm>
        <a:graphic>
          <a:graphicData uri="http://schemas.openxmlformats.org/drawingml/2006/table">
            <a:tbl>
              <a:tblPr/>
              <a:tblGrid>
                <a:gridCol w="1828800"/>
                <a:gridCol w="1371600"/>
              </a:tblGrid>
              <a:tr h="384048">
                <a:tc>
                  <a:txBody>
                    <a:bodyPr/>
                    <a:lstStyle/>
                    <a:p>
                      <a:pPr indent="0" marL="0">
                        <a:buNone/>
                      </a:pPr>
                      <a:r>
                        <a:rPr lang="en-US" sz="1400" b="1" dirty="0">
                          <a:solidFill>
                            <a:srgbClr val="0F172A"/>
                          </a:solidFill>
                        </a:rPr>
                        <a:t>category</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r" indent="0" marL="0">
                        <a:buNone/>
                      </a:pPr>
                      <a:r>
                        <a:rPr lang="en-US" sz="1400" b="1" dirty="0">
                          <a:solidFill>
                            <a:srgbClr val="0F172A"/>
                          </a:solidFill>
                        </a:rPr>
                        <a:t>revenue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84048">
                <a:tc>
                  <a:txBody>
                    <a:bodyPr/>
                    <a:lstStyle/>
                    <a:p>
                      <a:pPr indent="0" marL="0">
                        <a:buNone/>
                      </a:pPr>
                      <a:r>
                        <a:rPr lang="en-US" sz="1400" dirty="0">
                          <a:solidFill>
                            <a:srgbClr val="0F172A"/>
                          </a:solidFill>
                        </a:rPr>
                        <a:t>Electronics</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r" indent="0" marL="0">
                        <a:buNone/>
                      </a:pPr>
                      <a:r>
                        <a:rPr lang="en-US" sz="1400" dirty="0">
                          <a:solidFill>
                            <a:srgbClr val="0F172A"/>
                          </a:solidFill>
                        </a:rPr>
                        <a:t>548,967</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84048">
                <a:tc>
                  <a:txBody>
                    <a:bodyPr/>
                    <a:lstStyle/>
                    <a:p>
                      <a:pPr indent="0" marL="0">
                        <a:buNone/>
                      </a:pPr>
                      <a:r>
                        <a:rPr lang="en-US" sz="1400" dirty="0">
                          <a:solidFill>
                            <a:srgbClr val="0F172A"/>
                          </a:solidFill>
                        </a:rPr>
                        <a:t>Automotive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r" indent="0" marL="0">
                        <a:buNone/>
                      </a:pPr>
                      <a:r>
                        <a:rPr lang="en-US" sz="1400" dirty="0">
                          <a:solidFill>
                            <a:srgbClr val="0F172A"/>
                          </a:solidFill>
                        </a:rPr>
                        <a:t>108,307</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84048">
                <a:tc>
                  <a:txBody>
                    <a:bodyPr/>
                    <a:lstStyle/>
                    <a:p>
                      <a:pPr indent="0" marL="0">
                        <a:buNone/>
                      </a:pPr>
                      <a:r>
                        <a:rPr lang="en-US" sz="1400" dirty="0">
                          <a:solidFill>
                            <a:srgbClr val="0F172A"/>
                          </a:solidFill>
                        </a:rPr>
                        <a:t>Home &amp; Kitchen</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r" indent="0" marL="0">
                        <a:buNone/>
                      </a:pPr>
                      <a:r>
                        <a:rPr lang="en-US" sz="1400" dirty="0">
                          <a:solidFill>
                            <a:srgbClr val="0F172A"/>
                          </a:solidFill>
                        </a:rPr>
                        <a:t>101,711</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9" name="Text 6"/>
          <p:cNvSpPr txBox="1"/>
          <p:nvPr/>
        </p:nvSpPr>
        <p:spPr>
          <a:xfrm>
            <a:off x="8229600" y="4572000"/>
            <a:ext cx="3200400" cy="548640"/>
          </a:xfrm>
          <a:prstGeom prst="rect">
            <a:avLst/>
          </a:prstGeom>
          <a:noFill/>
          <a:ln/>
        </p:spPr>
        <p:txBody>
          <a:bodyPr wrap="square" lIns="0" tIns="0" rIns="0" bIns="0" rtlCol="0" anchor="ctr"/>
          <a:lstStyle/>
          <a:p>
            <a:pPr indent="0" marL="0">
              <a:buNone/>
            </a:pPr>
            <a:r>
              <a:rPr lang="en-US" sz="1300" i="1" dirty="0">
                <a:solidFill>
                  <a:schemeClr val="tx2"/>
                </a:solidFill>
              </a:rPr>
              <a:t>plus a chart, the SQL, and a short summary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Anyone can ask their data a question</a:t>
            </a:r>
            <a:endParaRPr lang="en-US" sz="3600" dirty="0"/>
          </a:p>
        </p:txBody>
      </p:sp>
      <p:sp>
        <p:nvSpPr>
          <p:cNvPr id="3" name="The problem circle"/>
          <p:cNvSpPr/>
          <p:nvPr/>
        </p:nvSpPr>
        <p:spPr>
          <a:xfrm>
            <a:off x="548640" y="1600200"/>
            <a:ext cx="777240" cy="777240"/>
          </a:xfrm>
          <a:prstGeom prst="ellipse">
            <a:avLst/>
          </a:prstGeom>
          <a:solidFill>
            <a:schemeClr val="accent3"/>
          </a:solidFill>
          <a:ln w="12700">
            <a:solidFill>
              <a:schemeClr val="accent3"/>
            </a:solidFill>
            <a:prstDash val="solid"/>
          </a:ln>
        </p:spPr>
      </p:sp>
      <p:pic>
        <p:nvPicPr>
          <p:cNvPr id="4" name="The problem icon" descr="The problem">    </p:cNvPr>
          <p:cNvPicPr>
            <a:picLocks noChangeAspect="1"/>
          </p:cNvPicPr>
          <p:nvPr/>
        </p:nvPicPr>
        <p:blipFill>
          <a:blip r:embed="rId1"/>
          <a:stretch>
            <a:fillRect/>
          </a:stretch>
        </p:blipFill>
        <p:spPr>
          <a:xfrm>
            <a:off x="750722" y="1802282"/>
            <a:ext cx="373075" cy="373075"/>
          </a:xfrm>
          <a:prstGeom prst="rect">
            <a:avLst/>
          </a:prstGeom>
        </p:spPr>
      </p:pic>
      <p:sp>
        <p:nvSpPr>
          <p:cNvPr id="5" name="Text 2"/>
          <p:cNvSpPr txBox="1"/>
          <p:nvPr/>
        </p:nvSpPr>
        <p:spPr>
          <a:xfrm>
            <a:off x="1554480" y="1600200"/>
            <a:ext cx="4572000" cy="365760"/>
          </a:xfrm>
          <a:prstGeom prst="rect">
            <a:avLst/>
          </a:prstGeom>
          <a:noFill/>
          <a:ln/>
        </p:spPr>
        <p:txBody>
          <a:bodyPr wrap="square" lIns="0" tIns="0" rIns="0" bIns="0" rtlCol="0" anchor="ctr"/>
          <a:lstStyle/>
          <a:p>
            <a:pPr indent="0" marL="0">
              <a:buNone/>
            </a:pPr>
            <a:r>
              <a:rPr lang="en-US" sz="2000" b="1" dirty="0">
                <a:solidFill>
                  <a:schemeClr val="tx1"/>
                </a:solidFill>
              </a:rPr>
              <a:t>The problem</a:t>
            </a:r>
            <a:endParaRPr lang="en-US" sz="2000" dirty="0"/>
          </a:p>
        </p:txBody>
      </p:sp>
      <p:sp>
        <p:nvSpPr>
          <p:cNvPr id="6" name="Text 3"/>
          <p:cNvSpPr txBox="1"/>
          <p:nvPr/>
        </p:nvSpPr>
        <p:spPr>
          <a:xfrm>
            <a:off x="1554480" y="2011680"/>
            <a:ext cx="4572000" cy="868680"/>
          </a:xfrm>
          <a:prstGeom prst="rect">
            <a:avLst/>
          </a:prstGeom>
          <a:noFill/>
          <a:ln/>
        </p:spPr>
        <p:txBody>
          <a:bodyPr wrap="square" lIns="0" tIns="0" rIns="0" bIns="0" rtlCol="0" anchor="t"/>
          <a:lstStyle/>
          <a:p>
            <a:pPr indent="0" marL="0">
              <a:buNone/>
            </a:pPr>
            <a:r>
              <a:rPr lang="en-US" sz="1500" dirty="0">
                <a:solidFill>
                  <a:schemeClr val="tx2"/>
                </a:solidFill>
              </a:rPr>
              <a:t>Ad-hoc data questions wait days in an analyst queue, even when the answer takes minutes to compute.</a:t>
            </a:r>
            <a:endParaRPr lang="en-US" sz="1500" dirty="0"/>
          </a:p>
        </p:txBody>
      </p:sp>
      <p:sp>
        <p:nvSpPr>
          <p:cNvPr id="7" name="The answer circle"/>
          <p:cNvSpPr/>
          <p:nvPr/>
        </p:nvSpPr>
        <p:spPr>
          <a:xfrm>
            <a:off x="548640" y="3108960"/>
            <a:ext cx="777240" cy="777240"/>
          </a:xfrm>
          <a:prstGeom prst="ellipse">
            <a:avLst/>
          </a:prstGeom>
          <a:solidFill>
            <a:schemeClr val="accent1"/>
          </a:solidFill>
          <a:ln w="12700">
            <a:solidFill>
              <a:schemeClr val="accent1"/>
            </a:solidFill>
            <a:prstDash val="solid"/>
          </a:ln>
        </p:spPr>
      </p:sp>
      <p:pic>
        <p:nvPicPr>
          <p:cNvPr id="8" name="The answer icon" descr="The answer">    </p:cNvPr>
          <p:cNvPicPr>
            <a:picLocks noChangeAspect="1"/>
          </p:cNvPicPr>
          <p:nvPr/>
        </p:nvPicPr>
        <p:blipFill>
          <a:blip r:embed="rId2"/>
          <a:stretch>
            <a:fillRect/>
          </a:stretch>
        </p:blipFill>
        <p:spPr>
          <a:xfrm>
            <a:off x="750722" y="3311042"/>
            <a:ext cx="373075" cy="373075"/>
          </a:xfrm>
          <a:prstGeom prst="rect">
            <a:avLst/>
          </a:prstGeom>
        </p:spPr>
      </p:pic>
      <p:sp>
        <p:nvSpPr>
          <p:cNvPr id="9" name="Text 5"/>
          <p:cNvSpPr txBox="1"/>
          <p:nvPr/>
        </p:nvSpPr>
        <p:spPr>
          <a:xfrm>
            <a:off x="1554480" y="3108960"/>
            <a:ext cx="4572000" cy="365760"/>
          </a:xfrm>
          <a:prstGeom prst="rect">
            <a:avLst/>
          </a:prstGeom>
          <a:noFill/>
          <a:ln/>
        </p:spPr>
        <p:txBody>
          <a:bodyPr wrap="square" lIns="0" tIns="0" rIns="0" bIns="0" rtlCol="0" anchor="ctr"/>
          <a:lstStyle/>
          <a:p>
            <a:pPr indent="0" marL="0">
              <a:buNone/>
            </a:pPr>
            <a:r>
              <a:rPr lang="en-US" sz="2000" b="1" dirty="0">
                <a:solidFill>
                  <a:schemeClr val="tx1"/>
                </a:solidFill>
              </a:rPr>
              <a:t>The answer</a:t>
            </a:r>
            <a:endParaRPr lang="en-US" sz="2000" dirty="0"/>
          </a:p>
        </p:txBody>
      </p:sp>
      <p:sp>
        <p:nvSpPr>
          <p:cNvPr id="10" name="Text 6"/>
          <p:cNvSpPr txBox="1"/>
          <p:nvPr/>
        </p:nvSpPr>
        <p:spPr>
          <a:xfrm>
            <a:off x="1554480" y="3520440"/>
            <a:ext cx="4572000" cy="868680"/>
          </a:xfrm>
          <a:prstGeom prst="rect">
            <a:avLst/>
          </a:prstGeom>
          <a:noFill/>
          <a:ln/>
        </p:spPr>
        <p:txBody>
          <a:bodyPr wrap="square" lIns="0" tIns="0" rIns="0" bIns="0" rtlCol="0" anchor="t"/>
          <a:lstStyle/>
          <a:p>
            <a:pPr indent="0" marL="0">
              <a:buNone/>
            </a:pPr>
            <a:r>
              <a:rPr lang="en-US" sz="1500" dirty="0">
                <a:solidFill>
                  <a:schemeClr val="tx2"/>
                </a:solidFill>
              </a:rPr>
              <a:t>Type a question in English. Get a table, a chart and a plain-language summary. No SQL needed.</a:t>
            </a:r>
            <a:endParaRPr lang="en-US" sz="1500" dirty="0"/>
          </a:p>
        </p:txBody>
      </p:sp>
      <p:sp>
        <p:nvSpPr>
          <p:cNvPr id="11" name="The control circle"/>
          <p:cNvSpPr/>
          <p:nvPr/>
        </p:nvSpPr>
        <p:spPr>
          <a:xfrm>
            <a:off x="548640" y="4617720"/>
            <a:ext cx="777240" cy="777240"/>
          </a:xfrm>
          <a:prstGeom prst="ellipse">
            <a:avLst/>
          </a:prstGeom>
          <a:solidFill>
            <a:schemeClr val="accent2"/>
          </a:solidFill>
          <a:ln w="12700">
            <a:solidFill>
              <a:schemeClr val="accent2"/>
            </a:solidFill>
            <a:prstDash val="solid"/>
          </a:ln>
        </p:spPr>
      </p:sp>
      <p:pic>
        <p:nvPicPr>
          <p:cNvPr id="12" name="The control icon" descr="The control">    </p:cNvPr>
          <p:cNvPicPr>
            <a:picLocks noChangeAspect="1"/>
          </p:cNvPicPr>
          <p:nvPr/>
        </p:nvPicPr>
        <p:blipFill>
          <a:blip r:embed="rId3"/>
          <a:stretch>
            <a:fillRect/>
          </a:stretch>
        </p:blipFill>
        <p:spPr>
          <a:xfrm>
            <a:off x="750722" y="4819802"/>
            <a:ext cx="373075" cy="373075"/>
          </a:xfrm>
          <a:prstGeom prst="rect">
            <a:avLst/>
          </a:prstGeom>
        </p:spPr>
      </p:pic>
      <p:sp>
        <p:nvSpPr>
          <p:cNvPr id="13" name="Text 8"/>
          <p:cNvSpPr txBox="1"/>
          <p:nvPr/>
        </p:nvSpPr>
        <p:spPr>
          <a:xfrm>
            <a:off x="1554480" y="4617720"/>
            <a:ext cx="4572000" cy="365760"/>
          </a:xfrm>
          <a:prstGeom prst="rect">
            <a:avLst/>
          </a:prstGeom>
          <a:noFill/>
          <a:ln/>
        </p:spPr>
        <p:txBody>
          <a:bodyPr wrap="square" lIns="0" tIns="0" rIns="0" bIns="0" rtlCol="0" anchor="ctr"/>
          <a:lstStyle/>
          <a:p>
            <a:pPr indent="0" marL="0">
              <a:buNone/>
            </a:pPr>
            <a:r>
              <a:rPr lang="en-US" sz="2000" b="1" dirty="0">
                <a:solidFill>
                  <a:schemeClr val="tx1"/>
                </a:solidFill>
              </a:rPr>
              <a:t>The control</a:t>
            </a:r>
            <a:endParaRPr lang="en-US" sz="2000" dirty="0"/>
          </a:p>
        </p:txBody>
      </p:sp>
      <p:sp>
        <p:nvSpPr>
          <p:cNvPr id="14" name="Text 9"/>
          <p:cNvSpPr txBox="1"/>
          <p:nvPr/>
        </p:nvSpPr>
        <p:spPr>
          <a:xfrm>
            <a:off x="1554480" y="5029200"/>
            <a:ext cx="4572000" cy="868680"/>
          </a:xfrm>
          <a:prstGeom prst="rect">
            <a:avLst/>
          </a:prstGeom>
          <a:noFill/>
          <a:ln/>
        </p:spPr>
        <p:txBody>
          <a:bodyPr wrap="square" lIns="0" tIns="0" rIns="0" bIns="0" rtlCol="0" anchor="t"/>
          <a:lstStyle/>
          <a:p>
            <a:pPr indent="0" marL="0">
              <a:buNone/>
            </a:pPr>
            <a:r>
              <a:rPr lang="en-US" sz="1500" dirty="0">
                <a:solidFill>
                  <a:schemeClr val="tx2"/>
                </a:solidFill>
              </a:rPr>
              <a:t>Data engineers steer it from an Admin UI: schema notes, examples, guardrails, models and logs.</a:t>
            </a:r>
            <a:endParaRPr lang="en-US" sz="1500" dirty="0"/>
          </a:p>
        </p:txBody>
      </p:sp>
      <p:sp>
        <p:nvSpPr>
          <p:cNvPr id="15" name="Stat card 1"/>
          <p:cNvSpPr/>
          <p:nvPr/>
        </p:nvSpPr>
        <p:spPr>
          <a:xfrm>
            <a:off x="6675120" y="1600200"/>
            <a:ext cx="2377440" cy="2103120"/>
          </a:xfrm>
          <a:prstGeom prst="roundRect">
            <a:avLst>
              <a:gd name="adj" fmla="val 5217"/>
            </a:avLst>
          </a:prstGeom>
          <a:solidFill>
            <a:schemeClr val="bg2"/>
          </a:solidFill>
          <a:ln w="12700">
            <a:solidFill>
              <a:schemeClr val="bg2"/>
            </a:solidFill>
            <a:prstDash val="solid"/>
          </a:ln>
        </p:spPr>
      </p:sp>
      <p:sp>
        <p:nvSpPr>
          <p:cNvPr id="16" name="Text 11"/>
          <p:cNvSpPr txBox="1"/>
          <p:nvPr/>
        </p:nvSpPr>
        <p:spPr>
          <a:xfrm>
            <a:off x="6858000" y="1874520"/>
            <a:ext cx="2011680" cy="822960"/>
          </a:xfrm>
          <a:prstGeom prst="rect">
            <a:avLst/>
          </a:prstGeom>
          <a:noFill/>
          <a:ln/>
        </p:spPr>
        <p:txBody>
          <a:bodyPr wrap="square" lIns="0" tIns="0" rIns="0" bIns="0" rtlCol="0" anchor="ctr"/>
          <a:lstStyle/>
          <a:p>
            <a:pPr indent="0" marL="0">
              <a:buNone/>
            </a:pPr>
            <a:r>
              <a:rPr lang="en-US" sz="3800" b="1" dirty="0">
                <a:solidFill>
                  <a:schemeClr val="accent1"/>
                </a:solidFill>
              </a:rPr>
              <a:t>80%</a:t>
            </a:r>
            <a:endParaRPr lang="en-US" sz="3800" dirty="0"/>
          </a:p>
        </p:txBody>
      </p:sp>
      <p:sp>
        <p:nvSpPr>
          <p:cNvPr id="17" name="Text 12"/>
          <p:cNvSpPr txBox="1"/>
          <p:nvPr/>
        </p:nvSpPr>
        <p:spPr>
          <a:xfrm>
            <a:off x="6858000" y="2743200"/>
            <a:ext cx="2011680" cy="777240"/>
          </a:xfrm>
          <a:prstGeom prst="rect">
            <a:avLst/>
          </a:prstGeom>
          <a:noFill/>
          <a:ln/>
        </p:spPr>
        <p:txBody>
          <a:bodyPr wrap="square" lIns="0" tIns="0" rIns="0" bIns="0" rtlCol="0" anchor="t"/>
          <a:lstStyle/>
          <a:p>
            <a:pPr indent="0" marL="0">
              <a:buNone/>
            </a:pPr>
            <a:r>
              <a:rPr lang="en-US" sz="1400" dirty="0">
                <a:solidFill>
                  <a:schemeClr val="tx2"/>
                </a:solidFill>
              </a:rPr>
              <a:t>of test answers match the ground truth (25 questions)</a:t>
            </a:r>
            <a:endParaRPr lang="en-US" sz="1400" dirty="0"/>
          </a:p>
        </p:txBody>
      </p:sp>
      <p:sp>
        <p:nvSpPr>
          <p:cNvPr id="18" name="Stat card 2"/>
          <p:cNvSpPr/>
          <p:nvPr/>
        </p:nvSpPr>
        <p:spPr>
          <a:xfrm>
            <a:off x="9281160" y="1600200"/>
            <a:ext cx="2377440" cy="2103120"/>
          </a:xfrm>
          <a:prstGeom prst="roundRect">
            <a:avLst>
              <a:gd name="adj" fmla="val 5217"/>
            </a:avLst>
          </a:prstGeom>
          <a:solidFill>
            <a:schemeClr val="bg2"/>
          </a:solidFill>
          <a:ln w="12700">
            <a:solidFill>
              <a:schemeClr val="bg2"/>
            </a:solidFill>
            <a:prstDash val="solid"/>
          </a:ln>
        </p:spPr>
      </p:sp>
      <p:sp>
        <p:nvSpPr>
          <p:cNvPr id="19" name="Text 14"/>
          <p:cNvSpPr txBox="1"/>
          <p:nvPr/>
        </p:nvSpPr>
        <p:spPr>
          <a:xfrm>
            <a:off x="9464040" y="1874520"/>
            <a:ext cx="2011680" cy="822960"/>
          </a:xfrm>
          <a:prstGeom prst="rect">
            <a:avLst/>
          </a:prstGeom>
          <a:noFill/>
          <a:ln/>
        </p:spPr>
        <p:txBody>
          <a:bodyPr wrap="square" lIns="0" tIns="0" rIns="0" bIns="0" rtlCol="0" anchor="ctr"/>
          <a:lstStyle/>
          <a:p>
            <a:pPr indent="0" marL="0">
              <a:buNone/>
            </a:pPr>
            <a:r>
              <a:rPr lang="en-US" sz="3800" b="1" dirty="0">
                <a:solidFill>
                  <a:schemeClr val="accent2"/>
                </a:solidFill>
              </a:rPr>
              <a:t>28 / 28</a:t>
            </a:r>
            <a:endParaRPr lang="en-US" sz="3800" dirty="0"/>
          </a:p>
        </p:txBody>
      </p:sp>
      <p:sp>
        <p:nvSpPr>
          <p:cNvPr id="20" name="Text 15"/>
          <p:cNvSpPr txBox="1"/>
          <p:nvPr/>
        </p:nvSpPr>
        <p:spPr>
          <a:xfrm>
            <a:off x="9464040" y="2743200"/>
            <a:ext cx="2011680" cy="777240"/>
          </a:xfrm>
          <a:prstGeom prst="rect">
            <a:avLst/>
          </a:prstGeom>
          <a:noFill/>
          <a:ln/>
        </p:spPr>
        <p:txBody>
          <a:bodyPr wrap="square" lIns="0" tIns="0" rIns="0" bIns="0" rtlCol="0" anchor="t"/>
          <a:lstStyle/>
          <a:p>
            <a:pPr indent="0" marL="0">
              <a:buNone/>
            </a:pPr>
            <a:r>
              <a:rPr lang="en-US" sz="1400" dirty="0">
                <a:solidFill>
                  <a:schemeClr val="tx2"/>
                </a:solidFill>
              </a:rPr>
              <a:t>attack attempts blocked, database unchanged</a:t>
            </a:r>
            <a:endParaRPr lang="en-US" sz="1400" dirty="0"/>
          </a:p>
        </p:txBody>
      </p:sp>
      <p:sp>
        <p:nvSpPr>
          <p:cNvPr id="21" name="Stat card 3"/>
          <p:cNvSpPr/>
          <p:nvPr/>
        </p:nvSpPr>
        <p:spPr>
          <a:xfrm>
            <a:off x="6675120" y="3931920"/>
            <a:ext cx="2377440" cy="2103120"/>
          </a:xfrm>
          <a:prstGeom prst="roundRect">
            <a:avLst>
              <a:gd name="adj" fmla="val 5217"/>
            </a:avLst>
          </a:prstGeom>
          <a:solidFill>
            <a:schemeClr val="bg2"/>
          </a:solidFill>
          <a:ln w="12700">
            <a:solidFill>
              <a:schemeClr val="bg2"/>
            </a:solidFill>
            <a:prstDash val="solid"/>
          </a:ln>
        </p:spPr>
      </p:sp>
      <p:sp>
        <p:nvSpPr>
          <p:cNvPr id="22" name="Text 17"/>
          <p:cNvSpPr txBox="1"/>
          <p:nvPr/>
        </p:nvSpPr>
        <p:spPr>
          <a:xfrm>
            <a:off x="6858000" y="4206240"/>
            <a:ext cx="2011680" cy="822960"/>
          </a:xfrm>
          <a:prstGeom prst="rect">
            <a:avLst/>
          </a:prstGeom>
          <a:noFill/>
          <a:ln/>
        </p:spPr>
        <p:txBody>
          <a:bodyPr wrap="square" lIns="0" tIns="0" rIns="0" bIns="0" rtlCol="0" anchor="ctr"/>
          <a:lstStyle/>
          <a:p>
            <a:pPr indent="0" marL="0">
              <a:buNone/>
            </a:pPr>
            <a:r>
              <a:rPr lang="en-US" sz="3800" b="1" dirty="0">
                <a:solidFill>
                  <a:schemeClr val="accent6"/>
                </a:solidFill>
              </a:rPr>
              <a:t>220</a:t>
            </a:r>
            <a:endParaRPr lang="en-US" sz="3800" dirty="0"/>
          </a:p>
        </p:txBody>
      </p:sp>
      <p:sp>
        <p:nvSpPr>
          <p:cNvPr id="23" name="Text 18"/>
          <p:cNvSpPr txBox="1"/>
          <p:nvPr/>
        </p:nvSpPr>
        <p:spPr>
          <a:xfrm>
            <a:off x="6858000" y="5074920"/>
            <a:ext cx="2011680" cy="777240"/>
          </a:xfrm>
          <a:prstGeom prst="rect">
            <a:avLst/>
          </a:prstGeom>
          <a:noFill/>
          <a:ln/>
        </p:spPr>
        <p:txBody>
          <a:bodyPr wrap="square" lIns="0" tIns="0" rIns="0" bIns="0" rtlCol="0" anchor="t"/>
          <a:lstStyle/>
          <a:p>
            <a:pPr indent="0" marL="0">
              <a:buNone/>
            </a:pPr>
            <a:r>
              <a:rPr lang="en-US" sz="1400" dirty="0">
                <a:solidFill>
                  <a:schemeClr val="tx2"/>
                </a:solidFill>
              </a:rPr>
              <a:t>automated tests, all running offline</a:t>
            </a:r>
            <a:endParaRPr lang="en-US" sz="1400" dirty="0"/>
          </a:p>
        </p:txBody>
      </p:sp>
      <p:sp>
        <p:nvSpPr>
          <p:cNvPr id="24" name="Stat card 4"/>
          <p:cNvSpPr/>
          <p:nvPr/>
        </p:nvSpPr>
        <p:spPr>
          <a:xfrm>
            <a:off x="9281160" y="3931920"/>
            <a:ext cx="2377440" cy="2103120"/>
          </a:xfrm>
          <a:prstGeom prst="roundRect">
            <a:avLst>
              <a:gd name="adj" fmla="val 5217"/>
            </a:avLst>
          </a:prstGeom>
          <a:solidFill>
            <a:schemeClr val="bg2"/>
          </a:solidFill>
          <a:ln w="12700">
            <a:solidFill>
              <a:schemeClr val="bg2"/>
            </a:solidFill>
            <a:prstDash val="solid"/>
          </a:ln>
        </p:spPr>
      </p:sp>
      <p:sp>
        <p:nvSpPr>
          <p:cNvPr id="25" name="Text 20"/>
          <p:cNvSpPr txBox="1"/>
          <p:nvPr/>
        </p:nvSpPr>
        <p:spPr>
          <a:xfrm>
            <a:off x="9464040" y="4206240"/>
            <a:ext cx="2011680" cy="822960"/>
          </a:xfrm>
          <a:prstGeom prst="rect">
            <a:avLst/>
          </a:prstGeom>
          <a:noFill/>
          <a:ln/>
        </p:spPr>
        <p:txBody>
          <a:bodyPr wrap="square" lIns="0" tIns="0" rIns="0" bIns="0" rtlCol="0" anchor="ctr"/>
          <a:lstStyle/>
          <a:p>
            <a:pPr indent="0" marL="0">
              <a:buNone/>
            </a:pPr>
            <a:r>
              <a:rPr lang="en-US" sz="3800" b="1" dirty="0">
                <a:solidFill>
                  <a:schemeClr val="accent3"/>
                </a:solidFill>
              </a:rPr>
              <a:t>~10-15 s</a:t>
            </a:r>
            <a:endParaRPr lang="en-US" sz="3800" dirty="0"/>
          </a:p>
        </p:txBody>
      </p:sp>
      <p:sp>
        <p:nvSpPr>
          <p:cNvPr id="26" name="Text 21"/>
          <p:cNvSpPr txBox="1"/>
          <p:nvPr/>
        </p:nvSpPr>
        <p:spPr>
          <a:xfrm>
            <a:off x="9464040" y="5074920"/>
            <a:ext cx="2011680" cy="777240"/>
          </a:xfrm>
          <a:prstGeom prst="rect">
            <a:avLst/>
          </a:prstGeom>
          <a:noFill/>
          <a:ln/>
        </p:spPr>
        <p:txBody>
          <a:bodyPr wrap="square" lIns="0" tIns="0" rIns="0" bIns="0" rtlCol="0" anchor="t"/>
          <a:lstStyle/>
          <a:p>
            <a:pPr indent="0" marL="0">
              <a:buNone/>
            </a:pPr>
            <a:r>
              <a:rPr lang="en-US" sz="1400" dirty="0">
                <a:solidFill>
                  <a:schemeClr val="tx2"/>
                </a:solidFill>
              </a:rPr>
              <a:t>for a fresh question, instant if repeated</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Seven stages, each independently testable</a:t>
            </a:r>
            <a:endParaRPr lang="en-US" sz="3600" dirty="0"/>
          </a:p>
        </p:txBody>
      </p:sp>
      <p:sp>
        <p:nvSpPr>
          <p:cNvPr id="3" name="Stage Question"/>
          <p:cNvSpPr/>
          <p:nvPr/>
        </p:nvSpPr>
        <p:spPr>
          <a:xfrm>
            <a:off x="548640" y="1463040"/>
            <a:ext cx="2377440" cy="1417320"/>
          </a:xfrm>
          <a:prstGeom prst="roundRect">
            <a:avLst>
              <a:gd name="adj" fmla="val 7742"/>
            </a:avLst>
          </a:prstGeom>
          <a:solidFill>
            <a:schemeClr val="bg2"/>
          </a:solidFill>
          <a:ln w="12700">
            <a:solidFill>
              <a:schemeClr val="bg2"/>
            </a:solidFill>
            <a:prstDash val="solid"/>
          </a:ln>
        </p:spPr>
      </p:sp>
      <p:sp>
        <p:nvSpPr>
          <p:cNvPr id="4" name="Question circle"/>
          <p:cNvSpPr/>
          <p:nvPr/>
        </p:nvSpPr>
        <p:spPr>
          <a:xfrm>
            <a:off x="713232" y="1627632"/>
            <a:ext cx="457200" cy="457200"/>
          </a:xfrm>
          <a:prstGeom prst="ellipse">
            <a:avLst/>
          </a:prstGeom>
          <a:solidFill>
            <a:schemeClr val="tx2"/>
          </a:solidFill>
          <a:ln w="12700">
            <a:solidFill>
              <a:schemeClr val="tx2"/>
            </a:solidFill>
            <a:prstDash val="solid"/>
          </a:ln>
        </p:spPr>
      </p:sp>
      <p:pic>
        <p:nvPicPr>
          <p:cNvPr id="5" name="Question icon" descr="Question">    </p:cNvPr>
          <p:cNvPicPr>
            <a:picLocks noChangeAspect="1"/>
          </p:cNvPicPr>
          <p:nvPr/>
        </p:nvPicPr>
        <p:blipFill>
          <a:blip r:embed="rId1"/>
          <a:stretch>
            <a:fillRect/>
          </a:stretch>
        </p:blipFill>
        <p:spPr>
          <a:xfrm>
            <a:off x="832104" y="1746504"/>
            <a:ext cx="219456" cy="219456"/>
          </a:xfrm>
          <a:prstGeom prst="rect">
            <a:avLst/>
          </a:prstGeom>
        </p:spPr>
      </p:pic>
      <p:sp>
        <p:nvSpPr>
          <p:cNvPr id="6" name="Text 3"/>
          <p:cNvSpPr txBox="1"/>
          <p:nvPr/>
        </p:nvSpPr>
        <p:spPr>
          <a:xfrm>
            <a:off x="1280160" y="1627632"/>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Question</a:t>
            </a:r>
            <a:endParaRPr lang="en-US" sz="1600" dirty="0"/>
          </a:p>
        </p:txBody>
      </p:sp>
      <p:sp>
        <p:nvSpPr>
          <p:cNvPr id="7" name="Text 4"/>
          <p:cNvSpPr txBox="1"/>
          <p:nvPr/>
        </p:nvSpPr>
        <p:spPr>
          <a:xfrm>
            <a:off x="713232" y="2176272"/>
            <a:ext cx="2048256" cy="640080"/>
          </a:xfrm>
          <a:prstGeom prst="rect">
            <a:avLst/>
          </a:prstGeom>
          <a:noFill/>
          <a:ln/>
        </p:spPr>
        <p:txBody>
          <a:bodyPr wrap="square" lIns="0" tIns="0" rIns="0" bIns="0" rtlCol="0" anchor="t"/>
          <a:lstStyle/>
          <a:p>
            <a:pPr indent="0" marL="0">
              <a:buNone/>
            </a:pPr>
            <a:r>
              <a:rPr lang="en-US" sz="1200" dirty="0">
                <a:solidFill>
                  <a:schemeClr val="tx2"/>
                </a:solidFill>
              </a:rPr>
              <a:t>A business user types it in plain English</a:t>
            </a:r>
            <a:endParaRPr lang="en-US" sz="1200" dirty="0"/>
          </a:p>
        </p:txBody>
      </p:sp>
      <p:sp>
        <p:nvSpPr>
          <p:cNvPr id="8" name="Stage Classifier"/>
          <p:cNvSpPr/>
          <p:nvPr/>
        </p:nvSpPr>
        <p:spPr>
          <a:xfrm>
            <a:off x="3453689" y="1463040"/>
            <a:ext cx="2377440" cy="1417320"/>
          </a:xfrm>
          <a:prstGeom prst="roundRect">
            <a:avLst>
              <a:gd name="adj" fmla="val 7742"/>
            </a:avLst>
          </a:prstGeom>
          <a:solidFill>
            <a:schemeClr val="bg2"/>
          </a:solidFill>
          <a:ln w="12700">
            <a:solidFill>
              <a:schemeClr val="bg2"/>
            </a:solidFill>
            <a:prstDash val="solid"/>
          </a:ln>
        </p:spPr>
      </p:sp>
      <p:sp>
        <p:nvSpPr>
          <p:cNvPr id="9" name="Classifier circle"/>
          <p:cNvSpPr/>
          <p:nvPr/>
        </p:nvSpPr>
        <p:spPr>
          <a:xfrm>
            <a:off x="3618281" y="1627632"/>
            <a:ext cx="457200" cy="457200"/>
          </a:xfrm>
          <a:prstGeom prst="ellipse">
            <a:avLst/>
          </a:prstGeom>
          <a:solidFill>
            <a:schemeClr val="accent1"/>
          </a:solidFill>
          <a:ln w="12700">
            <a:solidFill>
              <a:schemeClr val="accent1"/>
            </a:solidFill>
            <a:prstDash val="solid"/>
          </a:ln>
        </p:spPr>
      </p:sp>
      <p:pic>
        <p:nvPicPr>
          <p:cNvPr id="10" name="Classifier icon" descr="Classifier">    </p:cNvPr>
          <p:cNvPicPr>
            <a:picLocks noChangeAspect="1"/>
          </p:cNvPicPr>
          <p:nvPr/>
        </p:nvPicPr>
        <p:blipFill>
          <a:blip r:embed="rId2"/>
          <a:stretch>
            <a:fillRect/>
          </a:stretch>
        </p:blipFill>
        <p:spPr>
          <a:xfrm>
            <a:off x="3737153" y="1746504"/>
            <a:ext cx="219456" cy="219456"/>
          </a:xfrm>
          <a:prstGeom prst="rect">
            <a:avLst/>
          </a:prstGeom>
        </p:spPr>
      </p:pic>
      <p:sp>
        <p:nvSpPr>
          <p:cNvPr id="11" name="Text 7"/>
          <p:cNvSpPr txBox="1"/>
          <p:nvPr/>
        </p:nvSpPr>
        <p:spPr>
          <a:xfrm>
            <a:off x="4185209" y="1627632"/>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Classifier</a:t>
            </a:r>
            <a:endParaRPr lang="en-US" sz="1600" dirty="0"/>
          </a:p>
        </p:txBody>
      </p:sp>
      <p:sp>
        <p:nvSpPr>
          <p:cNvPr id="12" name="Text 8"/>
          <p:cNvSpPr txBox="1"/>
          <p:nvPr/>
        </p:nvSpPr>
        <p:spPr>
          <a:xfrm>
            <a:off x="3618281" y="2176272"/>
            <a:ext cx="2048256" cy="640080"/>
          </a:xfrm>
          <a:prstGeom prst="rect">
            <a:avLst/>
          </a:prstGeom>
          <a:noFill/>
          <a:ln/>
        </p:spPr>
        <p:txBody>
          <a:bodyPr wrap="square" lIns="0" tIns="0" rIns="0" bIns="0" rtlCol="0" anchor="t"/>
          <a:lstStyle/>
          <a:p>
            <a:pPr indent="0" marL="0">
              <a:buNone/>
            </a:pPr>
            <a:r>
              <a:rPr lang="en-US" sz="1200" dirty="0">
                <a:solidFill>
                  <a:schemeClr val="tx2"/>
                </a:solidFill>
              </a:rPr>
              <a:t>Simple, aggregate, join, temporal, or unsupported</a:t>
            </a:r>
            <a:endParaRPr lang="en-US" sz="1200" dirty="0"/>
          </a:p>
        </p:txBody>
      </p:sp>
      <p:sp>
        <p:nvSpPr>
          <p:cNvPr id="13" name="Stage Schema Linker"/>
          <p:cNvSpPr/>
          <p:nvPr/>
        </p:nvSpPr>
        <p:spPr>
          <a:xfrm>
            <a:off x="6358738" y="1463040"/>
            <a:ext cx="2377440" cy="1417320"/>
          </a:xfrm>
          <a:prstGeom prst="roundRect">
            <a:avLst>
              <a:gd name="adj" fmla="val 7742"/>
            </a:avLst>
          </a:prstGeom>
          <a:solidFill>
            <a:schemeClr val="bg2"/>
          </a:solidFill>
          <a:ln w="12700">
            <a:solidFill>
              <a:schemeClr val="bg2"/>
            </a:solidFill>
            <a:prstDash val="solid"/>
          </a:ln>
        </p:spPr>
      </p:sp>
      <p:sp>
        <p:nvSpPr>
          <p:cNvPr id="14" name="Schema Linker circle"/>
          <p:cNvSpPr/>
          <p:nvPr/>
        </p:nvSpPr>
        <p:spPr>
          <a:xfrm>
            <a:off x="6523330" y="1627632"/>
            <a:ext cx="457200" cy="457200"/>
          </a:xfrm>
          <a:prstGeom prst="ellipse">
            <a:avLst/>
          </a:prstGeom>
          <a:solidFill>
            <a:schemeClr val="accent1"/>
          </a:solidFill>
          <a:ln w="12700">
            <a:solidFill>
              <a:schemeClr val="accent1"/>
            </a:solidFill>
            <a:prstDash val="solid"/>
          </a:ln>
        </p:spPr>
      </p:sp>
      <p:pic>
        <p:nvPicPr>
          <p:cNvPr id="15" name="Schema Linker icon" descr="Schema Linker">    </p:cNvPr>
          <p:cNvPicPr>
            <a:picLocks noChangeAspect="1"/>
          </p:cNvPicPr>
          <p:nvPr/>
        </p:nvPicPr>
        <p:blipFill>
          <a:blip r:embed="rId3"/>
          <a:stretch>
            <a:fillRect/>
          </a:stretch>
        </p:blipFill>
        <p:spPr>
          <a:xfrm>
            <a:off x="6642202" y="1746504"/>
            <a:ext cx="219456" cy="219456"/>
          </a:xfrm>
          <a:prstGeom prst="rect">
            <a:avLst/>
          </a:prstGeom>
        </p:spPr>
      </p:pic>
      <p:sp>
        <p:nvSpPr>
          <p:cNvPr id="16" name="Text 11"/>
          <p:cNvSpPr txBox="1"/>
          <p:nvPr/>
        </p:nvSpPr>
        <p:spPr>
          <a:xfrm>
            <a:off x="7090258" y="1627632"/>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Schema Linker</a:t>
            </a:r>
            <a:endParaRPr lang="en-US" sz="1600" dirty="0"/>
          </a:p>
        </p:txBody>
      </p:sp>
      <p:sp>
        <p:nvSpPr>
          <p:cNvPr id="17" name="Text 12"/>
          <p:cNvSpPr txBox="1"/>
          <p:nvPr/>
        </p:nvSpPr>
        <p:spPr>
          <a:xfrm>
            <a:off x="6523330" y="2176272"/>
            <a:ext cx="2048256" cy="640080"/>
          </a:xfrm>
          <a:prstGeom prst="rect">
            <a:avLst/>
          </a:prstGeom>
          <a:noFill/>
          <a:ln/>
        </p:spPr>
        <p:txBody>
          <a:bodyPr wrap="square" lIns="0" tIns="0" rIns="0" bIns="0" rtlCol="0" anchor="t"/>
          <a:lstStyle/>
          <a:p>
            <a:pPr indent="0" marL="0">
              <a:buNone/>
            </a:pPr>
            <a:r>
              <a:rPr lang="en-US" sz="1200" dirty="0">
                <a:solidFill>
                  <a:schemeClr val="tx2"/>
                </a:solidFill>
              </a:rPr>
              <a:t>Maps words and synonyms to real tables and columns; flags ambiguity</a:t>
            </a:r>
            <a:endParaRPr lang="en-US" sz="1200" dirty="0"/>
          </a:p>
        </p:txBody>
      </p:sp>
      <p:sp>
        <p:nvSpPr>
          <p:cNvPr id="18" name="Stage Examples Retriever"/>
          <p:cNvSpPr/>
          <p:nvPr/>
        </p:nvSpPr>
        <p:spPr>
          <a:xfrm>
            <a:off x="9263786" y="1463040"/>
            <a:ext cx="2377440" cy="1417320"/>
          </a:xfrm>
          <a:prstGeom prst="roundRect">
            <a:avLst>
              <a:gd name="adj" fmla="val 7742"/>
            </a:avLst>
          </a:prstGeom>
          <a:solidFill>
            <a:schemeClr val="bg2"/>
          </a:solidFill>
          <a:ln w="12700">
            <a:solidFill>
              <a:schemeClr val="bg2"/>
            </a:solidFill>
            <a:prstDash val="solid"/>
          </a:ln>
        </p:spPr>
      </p:sp>
      <p:sp>
        <p:nvSpPr>
          <p:cNvPr id="19" name="Examples Retriever circle"/>
          <p:cNvSpPr/>
          <p:nvPr/>
        </p:nvSpPr>
        <p:spPr>
          <a:xfrm>
            <a:off x="9428378" y="1627632"/>
            <a:ext cx="457200" cy="457200"/>
          </a:xfrm>
          <a:prstGeom prst="ellipse">
            <a:avLst/>
          </a:prstGeom>
          <a:solidFill>
            <a:schemeClr val="accent1"/>
          </a:solidFill>
          <a:ln w="12700">
            <a:solidFill>
              <a:schemeClr val="accent1"/>
            </a:solidFill>
            <a:prstDash val="solid"/>
          </a:ln>
        </p:spPr>
      </p:sp>
      <p:pic>
        <p:nvPicPr>
          <p:cNvPr id="20" name="Examples Retriever icon" descr="Examples Retriever">    </p:cNvPr>
          <p:cNvPicPr>
            <a:picLocks noChangeAspect="1"/>
          </p:cNvPicPr>
          <p:nvPr/>
        </p:nvPicPr>
        <p:blipFill>
          <a:blip r:embed="rId4"/>
          <a:stretch>
            <a:fillRect/>
          </a:stretch>
        </p:blipFill>
        <p:spPr>
          <a:xfrm>
            <a:off x="9547250" y="1746504"/>
            <a:ext cx="219456" cy="219456"/>
          </a:xfrm>
          <a:prstGeom prst="rect">
            <a:avLst/>
          </a:prstGeom>
        </p:spPr>
      </p:pic>
      <p:sp>
        <p:nvSpPr>
          <p:cNvPr id="21" name="Text 15"/>
          <p:cNvSpPr txBox="1"/>
          <p:nvPr/>
        </p:nvSpPr>
        <p:spPr>
          <a:xfrm>
            <a:off x="9995306" y="1627632"/>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Examples Retriever</a:t>
            </a:r>
            <a:endParaRPr lang="en-US" sz="1600" dirty="0"/>
          </a:p>
        </p:txBody>
      </p:sp>
      <p:sp>
        <p:nvSpPr>
          <p:cNvPr id="22" name="Text 16"/>
          <p:cNvSpPr txBox="1"/>
          <p:nvPr/>
        </p:nvSpPr>
        <p:spPr>
          <a:xfrm>
            <a:off x="9428378" y="2176272"/>
            <a:ext cx="2048256" cy="640080"/>
          </a:xfrm>
          <a:prstGeom prst="rect">
            <a:avLst/>
          </a:prstGeom>
          <a:noFill/>
          <a:ln/>
        </p:spPr>
        <p:txBody>
          <a:bodyPr wrap="square" lIns="0" tIns="0" rIns="0" bIns="0" rtlCol="0" anchor="t"/>
          <a:lstStyle/>
          <a:p>
            <a:pPr indent="0" marL="0">
              <a:buNone/>
            </a:pPr>
            <a:r>
              <a:rPr lang="en-US" sz="1200" dirty="0">
                <a:solidFill>
                  <a:schemeClr val="tx2"/>
                </a:solidFill>
              </a:rPr>
              <a:t>Finds the 4 most similar solved questions in ChromaDB</a:t>
            </a:r>
            <a:endParaRPr lang="en-US" sz="1200" dirty="0"/>
          </a:p>
        </p:txBody>
      </p:sp>
      <p:sp>
        <p:nvSpPr>
          <p:cNvPr id="23" name="Stage SQL Generator"/>
          <p:cNvSpPr/>
          <p:nvPr/>
        </p:nvSpPr>
        <p:spPr>
          <a:xfrm>
            <a:off x="548640" y="3611880"/>
            <a:ext cx="2377440" cy="1417320"/>
          </a:xfrm>
          <a:prstGeom prst="roundRect">
            <a:avLst>
              <a:gd name="adj" fmla="val 7742"/>
            </a:avLst>
          </a:prstGeom>
          <a:solidFill>
            <a:schemeClr val="bg2"/>
          </a:solidFill>
          <a:ln w="12700">
            <a:solidFill>
              <a:schemeClr val="bg2"/>
            </a:solidFill>
            <a:prstDash val="solid"/>
          </a:ln>
        </p:spPr>
      </p:sp>
      <p:sp>
        <p:nvSpPr>
          <p:cNvPr id="24" name="SQL Generator circle"/>
          <p:cNvSpPr/>
          <p:nvPr/>
        </p:nvSpPr>
        <p:spPr>
          <a:xfrm>
            <a:off x="713232" y="3776472"/>
            <a:ext cx="457200" cy="457200"/>
          </a:xfrm>
          <a:prstGeom prst="ellipse">
            <a:avLst/>
          </a:prstGeom>
          <a:solidFill>
            <a:schemeClr val="accent6"/>
          </a:solidFill>
          <a:ln w="12700">
            <a:solidFill>
              <a:schemeClr val="accent6"/>
            </a:solidFill>
            <a:prstDash val="solid"/>
          </a:ln>
        </p:spPr>
      </p:sp>
      <p:pic>
        <p:nvPicPr>
          <p:cNvPr id="25" name="SQL Generator icon" descr="SQL Generator">    </p:cNvPr>
          <p:cNvPicPr>
            <a:picLocks noChangeAspect="1"/>
          </p:cNvPicPr>
          <p:nvPr/>
        </p:nvPicPr>
        <p:blipFill>
          <a:blip r:embed="rId5"/>
          <a:stretch>
            <a:fillRect/>
          </a:stretch>
        </p:blipFill>
        <p:spPr>
          <a:xfrm>
            <a:off x="832104" y="3895344"/>
            <a:ext cx="219456" cy="219456"/>
          </a:xfrm>
          <a:prstGeom prst="rect">
            <a:avLst/>
          </a:prstGeom>
        </p:spPr>
      </p:pic>
      <p:sp>
        <p:nvSpPr>
          <p:cNvPr id="26" name="Text 19"/>
          <p:cNvSpPr txBox="1"/>
          <p:nvPr/>
        </p:nvSpPr>
        <p:spPr>
          <a:xfrm>
            <a:off x="1280160" y="3776472"/>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SQL Generator</a:t>
            </a:r>
            <a:endParaRPr lang="en-US" sz="1600" dirty="0"/>
          </a:p>
        </p:txBody>
      </p:sp>
      <p:sp>
        <p:nvSpPr>
          <p:cNvPr id="27" name="Text 20"/>
          <p:cNvSpPr txBox="1"/>
          <p:nvPr/>
        </p:nvSpPr>
        <p:spPr>
          <a:xfrm>
            <a:off x="713232" y="4325112"/>
            <a:ext cx="2048256" cy="640080"/>
          </a:xfrm>
          <a:prstGeom prst="rect">
            <a:avLst/>
          </a:prstGeom>
          <a:noFill/>
          <a:ln/>
        </p:spPr>
        <p:txBody>
          <a:bodyPr wrap="square" lIns="0" tIns="0" rIns="0" bIns="0" rtlCol="0" anchor="t"/>
          <a:lstStyle/>
          <a:p>
            <a:pPr indent="0" marL="0">
              <a:buNone/>
            </a:pPr>
            <a:r>
              <a:rPr lang="en-US" sz="1200" dirty="0">
                <a:solidFill>
                  <a:schemeClr val="tx2"/>
                </a:solidFill>
              </a:rPr>
              <a:t>The LLM writes one read-only SELECT with all that context</a:t>
            </a:r>
            <a:endParaRPr lang="en-US" sz="1200" dirty="0"/>
          </a:p>
        </p:txBody>
      </p:sp>
      <p:sp>
        <p:nvSpPr>
          <p:cNvPr id="28" name="Stage SQL Validator"/>
          <p:cNvSpPr/>
          <p:nvPr/>
        </p:nvSpPr>
        <p:spPr>
          <a:xfrm>
            <a:off x="3453689" y="3611880"/>
            <a:ext cx="2377440" cy="1417320"/>
          </a:xfrm>
          <a:prstGeom prst="roundRect">
            <a:avLst>
              <a:gd name="adj" fmla="val 7742"/>
            </a:avLst>
          </a:prstGeom>
          <a:solidFill>
            <a:schemeClr val="bg2"/>
          </a:solidFill>
          <a:ln w="12700">
            <a:solidFill>
              <a:schemeClr val="bg2"/>
            </a:solidFill>
            <a:prstDash val="solid"/>
          </a:ln>
        </p:spPr>
      </p:sp>
      <p:sp>
        <p:nvSpPr>
          <p:cNvPr id="29" name="SQL Validator circle"/>
          <p:cNvSpPr/>
          <p:nvPr/>
        </p:nvSpPr>
        <p:spPr>
          <a:xfrm>
            <a:off x="3618281" y="3776472"/>
            <a:ext cx="457200" cy="457200"/>
          </a:xfrm>
          <a:prstGeom prst="ellipse">
            <a:avLst/>
          </a:prstGeom>
          <a:solidFill>
            <a:schemeClr val="accent4"/>
          </a:solidFill>
          <a:ln w="12700">
            <a:solidFill>
              <a:schemeClr val="accent4"/>
            </a:solidFill>
            <a:prstDash val="solid"/>
          </a:ln>
        </p:spPr>
      </p:sp>
      <p:pic>
        <p:nvPicPr>
          <p:cNvPr id="30" name="SQL Validator icon" descr="SQL Validator">    </p:cNvPr>
          <p:cNvPicPr>
            <a:picLocks noChangeAspect="1"/>
          </p:cNvPicPr>
          <p:nvPr/>
        </p:nvPicPr>
        <p:blipFill>
          <a:blip r:embed="rId6"/>
          <a:stretch>
            <a:fillRect/>
          </a:stretch>
        </p:blipFill>
        <p:spPr>
          <a:xfrm>
            <a:off x="3737153" y="3895344"/>
            <a:ext cx="219456" cy="219456"/>
          </a:xfrm>
          <a:prstGeom prst="rect">
            <a:avLst/>
          </a:prstGeom>
        </p:spPr>
      </p:pic>
      <p:sp>
        <p:nvSpPr>
          <p:cNvPr id="31" name="Text 23"/>
          <p:cNvSpPr txBox="1"/>
          <p:nvPr/>
        </p:nvSpPr>
        <p:spPr>
          <a:xfrm>
            <a:off x="4185209" y="3776472"/>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SQL Validator</a:t>
            </a:r>
            <a:endParaRPr lang="en-US" sz="1600" dirty="0"/>
          </a:p>
        </p:txBody>
      </p:sp>
      <p:sp>
        <p:nvSpPr>
          <p:cNvPr id="32" name="Text 24"/>
          <p:cNvSpPr txBox="1"/>
          <p:nvPr/>
        </p:nvSpPr>
        <p:spPr>
          <a:xfrm>
            <a:off x="3618281" y="4325112"/>
            <a:ext cx="2048256" cy="640080"/>
          </a:xfrm>
          <a:prstGeom prst="rect">
            <a:avLst/>
          </a:prstGeom>
          <a:noFill/>
          <a:ln/>
        </p:spPr>
        <p:txBody>
          <a:bodyPr wrap="square" lIns="0" tIns="0" rIns="0" bIns="0" rtlCol="0" anchor="t"/>
          <a:lstStyle/>
          <a:p>
            <a:pPr indent="0" marL="0">
              <a:buNone/>
            </a:pPr>
            <a:r>
              <a:rPr lang="en-US" sz="1200" dirty="0">
                <a:solidFill>
                  <a:schemeClr val="tx2"/>
                </a:solidFill>
              </a:rPr>
              <a:t>Parses the SQL, blocks writes, checks tables and columns, adds a row limit</a:t>
            </a:r>
            <a:endParaRPr lang="en-US" sz="1200" dirty="0"/>
          </a:p>
        </p:txBody>
      </p:sp>
      <p:sp>
        <p:nvSpPr>
          <p:cNvPr id="33" name="Stage SQL Executor"/>
          <p:cNvSpPr/>
          <p:nvPr/>
        </p:nvSpPr>
        <p:spPr>
          <a:xfrm>
            <a:off x="6358738" y="3611880"/>
            <a:ext cx="2377440" cy="1417320"/>
          </a:xfrm>
          <a:prstGeom prst="roundRect">
            <a:avLst>
              <a:gd name="adj" fmla="val 7742"/>
            </a:avLst>
          </a:prstGeom>
          <a:solidFill>
            <a:schemeClr val="bg2"/>
          </a:solidFill>
          <a:ln w="12700">
            <a:solidFill>
              <a:schemeClr val="bg2"/>
            </a:solidFill>
            <a:prstDash val="solid"/>
          </a:ln>
        </p:spPr>
      </p:sp>
      <p:sp>
        <p:nvSpPr>
          <p:cNvPr id="34" name="SQL Executor circle"/>
          <p:cNvSpPr/>
          <p:nvPr/>
        </p:nvSpPr>
        <p:spPr>
          <a:xfrm>
            <a:off x="6523330" y="3776472"/>
            <a:ext cx="457200" cy="457200"/>
          </a:xfrm>
          <a:prstGeom prst="ellipse">
            <a:avLst/>
          </a:prstGeom>
          <a:solidFill>
            <a:schemeClr val="accent4"/>
          </a:solidFill>
          <a:ln w="12700">
            <a:solidFill>
              <a:schemeClr val="accent4"/>
            </a:solidFill>
            <a:prstDash val="solid"/>
          </a:ln>
        </p:spPr>
      </p:sp>
      <p:pic>
        <p:nvPicPr>
          <p:cNvPr id="35" name="SQL Executor icon" descr="SQL Executor">    </p:cNvPr>
          <p:cNvPicPr>
            <a:picLocks noChangeAspect="1"/>
          </p:cNvPicPr>
          <p:nvPr/>
        </p:nvPicPr>
        <p:blipFill>
          <a:blip r:embed="rId7"/>
          <a:stretch>
            <a:fillRect/>
          </a:stretch>
        </p:blipFill>
        <p:spPr>
          <a:xfrm>
            <a:off x="6642202" y="3895344"/>
            <a:ext cx="219456" cy="219456"/>
          </a:xfrm>
          <a:prstGeom prst="rect">
            <a:avLst/>
          </a:prstGeom>
        </p:spPr>
      </p:pic>
      <p:sp>
        <p:nvSpPr>
          <p:cNvPr id="36" name="Text 27"/>
          <p:cNvSpPr txBox="1"/>
          <p:nvPr/>
        </p:nvSpPr>
        <p:spPr>
          <a:xfrm>
            <a:off x="7090258" y="3776472"/>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SQL Executor</a:t>
            </a:r>
            <a:endParaRPr lang="en-US" sz="1600" dirty="0"/>
          </a:p>
        </p:txBody>
      </p:sp>
      <p:sp>
        <p:nvSpPr>
          <p:cNvPr id="37" name="Text 28"/>
          <p:cNvSpPr txBox="1"/>
          <p:nvPr/>
        </p:nvSpPr>
        <p:spPr>
          <a:xfrm>
            <a:off x="6523330" y="4325112"/>
            <a:ext cx="2048256" cy="640080"/>
          </a:xfrm>
          <a:prstGeom prst="rect">
            <a:avLst/>
          </a:prstGeom>
          <a:noFill/>
          <a:ln/>
        </p:spPr>
        <p:txBody>
          <a:bodyPr wrap="square" lIns="0" tIns="0" rIns="0" bIns="0" rtlCol="0" anchor="t"/>
          <a:lstStyle/>
          <a:p>
            <a:pPr indent="0" marL="0">
              <a:buNone/>
            </a:pPr>
            <a:r>
              <a:rPr lang="en-US" sz="1200" dirty="0">
                <a:solidFill>
                  <a:schemeClr val="tx2"/>
                </a:solidFill>
              </a:rPr>
              <a:t>Runs it on a read-only connection with a time limit</a:t>
            </a:r>
            <a:endParaRPr lang="en-US" sz="1200" dirty="0"/>
          </a:p>
        </p:txBody>
      </p:sp>
      <p:sp>
        <p:nvSpPr>
          <p:cNvPr id="38" name="Stage Result Formatter"/>
          <p:cNvSpPr/>
          <p:nvPr/>
        </p:nvSpPr>
        <p:spPr>
          <a:xfrm>
            <a:off x="9263786" y="3611880"/>
            <a:ext cx="2377440" cy="1417320"/>
          </a:xfrm>
          <a:prstGeom prst="roundRect">
            <a:avLst>
              <a:gd name="adj" fmla="val 7742"/>
            </a:avLst>
          </a:prstGeom>
          <a:solidFill>
            <a:schemeClr val="bg2"/>
          </a:solidFill>
          <a:ln w="12700">
            <a:solidFill>
              <a:schemeClr val="bg2"/>
            </a:solidFill>
            <a:prstDash val="solid"/>
          </a:ln>
        </p:spPr>
      </p:sp>
      <p:sp>
        <p:nvSpPr>
          <p:cNvPr id="39" name="Result Formatter circle"/>
          <p:cNvSpPr/>
          <p:nvPr/>
        </p:nvSpPr>
        <p:spPr>
          <a:xfrm>
            <a:off x="9428378" y="3776472"/>
            <a:ext cx="457200" cy="457200"/>
          </a:xfrm>
          <a:prstGeom prst="ellipse">
            <a:avLst/>
          </a:prstGeom>
          <a:solidFill>
            <a:schemeClr val="accent2"/>
          </a:solidFill>
          <a:ln w="12700">
            <a:solidFill>
              <a:schemeClr val="accent2"/>
            </a:solidFill>
            <a:prstDash val="solid"/>
          </a:ln>
        </p:spPr>
      </p:sp>
      <p:pic>
        <p:nvPicPr>
          <p:cNvPr id="40" name="Result Formatter icon" descr="Result Formatter">    </p:cNvPr>
          <p:cNvPicPr>
            <a:picLocks noChangeAspect="1"/>
          </p:cNvPicPr>
          <p:nvPr/>
        </p:nvPicPr>
        <p:blipFill>
          <a:blip r:embed="rId8"/>
          <a:stretch>
            <a:fillRect/>
          </a:stretch>
        </p:blipFill>
        <p:spPr>
          <a:xfrm>
            <a:off x="9547250" y="3895344"/>
            <a:ext cx="219456" cy="219456"/>
          </a:xfrm>
          <a:prstGeom prst="rect">
            <a:avLst/>
          </a:prstGeom>
        </p:spPr>
      </p:pic>
      <p:sp>
        <p:nvSpPr>
          <p:cNvPr id="41" name="Text 31"/>
          <p:cNvSpPr txBox="1"/>
          <p:nvPr/>
        </p:nvSpPr>
        <p:spPr>
          <a:xfrm>
            <a:off x="9995306" y="3776472"/>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Result Formatter</a:t>
            </a:r>
            <a:endParaRPr lang="en-US" sz="1600" dirty="0"/>
          </a:p>
        </p:txBody>
      </p:sp>
      <p:sp>
        <p:nvSpPr>
          <p:cNvPr id="42" name="Text 32"/>
          <p:cNvSpPr txBox="1"/>
          <p:nvPr/>
        </p:nvSpPr>
        <p:spPr>
          <a:xfrm>
            <a:off x="9428378" y="4325112"/>
            <a:ext cx="2048256" cy="640080"/>
          </a:xfrm>
          <a:prstGeom prst="rect">
            <a:avLst/>
          </a:prstGeom>
          <a:noFill/>
          <a:ln/>
        </p:spPr>
        <p:txBody>
          <a:bodyPr wrap="square" lIns="0" tIns="0" rIns="0" bIns="0" rtlCol="0" anchor="t"/>
          <a:lstStyle/>
          <a:p>
            <a:pPr indent="0" marL="0">
              <a:buNone/>
            </a:pPr>
            <a:r>
              <a:rPr lang="en-US" sz="1200" dirty="0">
                <a:solidFill>
                  <a:schemeClr val="tx2"/>
                </a:solidFill>
              </a:rPr>
              <a:t>Table plus a 1-2 sentence summary; never sees sensitive columns</a:t>
            </a:r>
            <a:endParaRPr lang="en-US" sz="1200" dirty="0"/>
          </a:p>
        </p:txBody>
      </p:sp>
      <p:sp>
        <p:nvSpPr>
          <p:cNvPr id="43" name="Arrow row1 1"/>
          <p:cNvSpPr/>
          <p:nvPr/>
        </p:nvSpPr>
        <p:spPr>
          <a:xfrm>
            <a:off x="2980944" y="2171700"/>
            <a:ext cx="417881" cy="0"/>
          </a:xfrm>
          <a:prstGeom prst="line">
            <a:avLst/>
          </a:prstGeom>
          <a:noFill/>
          <a:ln w="25400">
            <a:solidFill>
              <a:srgbClr val="475569"/>
            </a:solidFill>
            <a:prstDash val="solid"/>
            <a:tailEnd type="triangle"/>
          </a:ln>
        </p:spPr>
      </p:sp>
      <p:sp>
        <p:nvSpPr>
          <p:cNvPr id="44" name="Arrow row2 1"/>
          <p:cNvSpPr/>
          <p:nvPr/>
        </p:nvSpPr>
        <p:spPr>
          <a:xfrm>
            <a:off x="2980944" y="4320540"/>
            <a:ext cx="417881" cy="0"/>
          </a:xfrm>
          <a:prstGeom prst="line">
            <a:avLst/>
          </a:prstGeom>
          <a:noFill/>
          <a:ln w="25400">
            <a:solidFill>
              <a:srgbClr val="475569"/>
            </a:solidFill>
            <a:prstDash val="solid"/>
            <a:tailEnd type="triangle"/>
          </a:ln>
        </p:spPr>
      </p:sp>
      <p:sp>
        <p:nvSpPr>
          <p:cNvPr id="45" name="Arrow row1 2"/>
          <p:cNvSpPr/>
          <p:nvPr/>
        </p:nvSpPr>
        <p:spPr>
          <a:xfrm>
            <a:off x="5885993" y="2171700"/>
            <a:ext cx="417881" cy="0"/>
          </a:xfrm>
          <a:prstGeom prst="line">
            <a:avLst/>
          </a:prstGeom>
          <a:noFill/>
          <a:ln w="25400">
            <a:solidFill>
              <a:srgbClr val="475569"/>
            </a:solidFill>
            <a:prstDash val="solid"/>
            <a:tailEnd type="triangle"/>
          </a:ln>
        </p:spPr>
      </p:sp>
      <p:sp>
        <p:nvSpPr>
          <p:cNvPr id="46" name="Arrow row2 2"/>
          <p:cNvSpPr/>
          <p:nvPr/>
        </p:nvSpPr>
        <p:spPr>
          <a:xfrm>
            <a:off x="5885993" y="4320540"/>
            <a:ext cx="417881" cy="0"/>
          </a:xfrm>
          <a:prstGeom prst="line">
            <a:avLst/>
          </a:prstGeom>
          <a:noFill/>
          <a:ln w="25400">
            <a:solidFill>
              <a:srgbClr val="475569"/>
            </a:solidFill>
            <a:prstDash val="solid"/>
            <a:tailEnd type="triangle"/>
          </a:ln>
        </p:spPr>
      </p:sp>
      <p:sp>
        <p:nvSpPr>
          <p:cNvPr id="47" name="Arrow row1 3"/>
          <p:cNvSpPr/>
          <p:nvPr/>
        </p:nvSpPr>
        <p:spPr>
          <a:xfrm>
            <a:off x="8791042" y="2171700"/>
            <a:ext cx="417881" cy="0"/>
          </a:xfrm>
          <a:prstGeom prst="line">
            <a:avLst/>
          </a:prstGeom>
          <a:noFill/>
          <a:ln w="25400">
            <a:solidFill>
              <a:srgbClr val="475569"/>
            </a:solidFill>
            <a:prstDash val="solid"/>
            <a:tailEnd type="triangle"/>
          </a:ln>
        </p:spPr>
      </p:sp>
      <p:sp>
        <p:nvSpPr>
          <p:cNvPr id="48" name="Arrow row2 3"/>
          <p:cNvSpPr/>
          <p:nvPr/>
        </p:nvSpPr>
        <p:spPr>
          <a:xfrm>
            <a:off x="8791042" y="4320540"/>
            <a:ext cx="417881" cy="0"/>
          </a:xfrm>
          <a:prstGeom prst="line">
            <a:avLst/>
          </a:prstGeom>
          <a:noFill/>
          <a:ln w="25400">
            <a:solidFill>
              <a:srgbClr val="475569"/>
            </a:solidFill>
            <a:prstDash val="solid"/>
            <a:tailEnd type="triangle"/>
          </a:ln>
        </p:spPr>
      </p:sp>
      <p:sp>
        <p:nvSpPr>
          <p:cNvPr id="49" name="Elbow down"/>
          <p:cNvSpPr/>
          <p:nvPr/>
        </p:nvSpPr>
        <p:spPr>
          <a:xfrm>
            <a:off x="10452506" y="2880360"/>
            <a:ext cx="0" cy="365760"/>
          </a:xfrm>
          <a:prstGeom prst="line">
            <a:avLst/>
          </a:prstGeom>
          <a:noFill/>
          <a:ln w="25400">
            <a:solidFill>
              <a:srgbClr val="475569"/>
            </a:solidFill>
            <a:prstDash val="solid"/>
          </a:ln>
        </p:spPr>
      </p:sp>
      <p:sp>
        <p:nvSpPr>
          <p:cNvPr id="50" name="Elbow across"/>
          <p:cNvSpPr/>
          <p:nvPr/>
        </p:nvSpPr>
        <p:spPr>
          <a:xfrm>
            <a:off x="1737360" y="3246120"/>
            <a:ext cx="8715146" cy="0"/>
          </a:xfrm>
          <a:prstGeom prst="line">
            <a:avLst/>
          </a:prstGeom>
          <a:noFill/>
          <a:ln w="25400">
            <a:solidFill>
              <a:srgbClr val="475569"/>
            </a:solidFill>
            <a:prstDash val="solid"/>
          </a:ln>
        </p:spPr>
      </p:sp>
      <p:sp>
        <p:nvSpPr>
          <p:cNvPr id="51" name="Elbow into stage 5"/>
          <p:cNvSpPr/>
          <p:nvPr/>
        </p:nvSpPr>
        <p:spPr>
          <a:xfrm>
            <a:off x="1737360" y="3246120"/>
            <a:ext cx="0" cy="329184"/>
          </a:xfrm>
          <a:prstGeom prst="line">
            <a:avLst/>
          </a:prstGeom>
          <a:noFill/>
          <a:ln w="25400">
            <a:solidFill>
              <a:srgbClr val="475569"/>
            </a:solidFill>
            <a:prstDash val="solid"/>
            <a:tailEnd type="triangle"/>
          </a:ln>
        </p:spPr>
      </p:sp>
      <p:sp>
        <p:nvSpPr>
          <p:cNvPr id="52" name="Note 1"/>
          <p:cNvSpPr/>
          <p:nvPr/>
        </p:nvSpPr>
        <p:spPr>
          <a:xfrm>
            <a:off x="548640" y="5394960"/>
            <a:ext cx="3611880" cy="777240"/>
          </a:xfrm>
          <a:prstGeom prst="roundRect">
            <a:avLst>
              <a:gd name="adj" fmla="val 14118"/>
            </a:avLst>
          </a:prstGeom>
          <a:solidFill>
            <a:schemeClr val="accent3">
              <a:alpha val="12000"/>
            </a:schemeClr>
          </a:solidFill>
          <a:ln w="12700">
            <a:solidFill>
              <a:schemeClr val="accent3"/>
            </a:solidFill>
            <a:prstDash val="solid"/>
          </a:ln>
        </p:spPr>
      </p:sp>
      <p:sp>
        <p:nvSpPr>
          <p:cNvPr id="53" name="Text 43"/>
          <p:cNvSpPr txBox="1"/>
          <p:nvPr/>
        </p:nvSpPr>
        <p:spPr>
          <a:xfrm>
            <a:off x="685800" y="5394960"/>
            <a:ext cx="3337560" cy="777240"/>
          </a:xfrm>
          <a:prstGeom prst="rect">
            <a:avLst/>
          </a:prstGeom>
          <a:noFill/>
          <a:ln/>
        </p:spPr>
        <p:txBody>
          <a:bodyPr wrap="square" lIns="0" tIns="0" rIns="0" bIns="0" rtlCol="0" anchor="ctr"/>
          <a:lstStyle/>
          <a:p>
            <a:pPr indent="0" marL="0">
              <a:buNone/>
            </a:pPr>
            <a:r>
              <a:rPr lang="en-US" sz="1300" dirty="0">
                <a:solidFill>
                  <a:schemeClr val="tx1"/>
                </a:solidFill>
              </a:rPr>
              <a:t>Unsupported (delete, update, drop): stops at the classifier</a:t>
            </a:r>
            <a:endParaRPr lang="en-US" sz="1300" dirty="0"/>
          </a:p>
        </p:txBody>
      </p:sp>
      <p:sp>
        <p:nvSpPr>
          <p:cNvPr id="54" name="Note 2"/>
          <p:cNvSpPr/>
          <p:nvPr/>
        </p:nvSpPr>
        <p:spPr>
          <a:xfrm>
            <a:off x="4297680" y="5394960"/>
            <a:ext cx="3611880" cy="777240"/>
          </a:xfrm>
          <a:prstGeom prst="roundRect">
            <a:avLst>
              <a:gd name="adj" fmla="val 14118"/>
            </a:avLst>
          </a:prstGeom>
          <a:solidFill>
            <a:schemeClr val="accent4">
              <a:alpha val="12000"/>
            </a:schemeClr>
          </a:solidFill>
          <a:ln w="12700">
            <a:solidFill>
              <a:schemeClr val="accent4"/>
            </a:solidFill>
            <a:prstDash val="solid"/>
          </a:ln>
        </p:spPr>
      </p:sp>
      <p:sp>
        <p:nvSpPr>
          <p:cNvPr id="55" name="Text 45"/>
          <p:cNvSpPr txBox="1"/>
          <p:nvPr/>
        </p:nvSpPr>
        <p:spPr>
          <a:xfrm>
            <a:off x="4434840" y="5394960"/>
            <a:ext cx="3337560" cy="777240"/>
          </a:xfrm>
          <a:prstGeom prst="rect">
            <a:avLst/>
          </a:prstGeom>
          <a:noFill/>
          <a:ln/>
        </p:spPr>
        <p:txBody>
          <a:bodyPr wrap="square" lIns="0" tIns="0" rIns="0" bIns="0" rtlCol="0" anchor="ctr"/>
          <a:lstStyle/>
          <a:p>
            <a:pPr indent="0" marL="0">
              <a:buNone/>
            </a:pPr>
            <a:r>
              <a:rPr lang="en-US" sz="1300" dirty="0">
                <a:solidFill>
                  <a:schemeClr val="tx1"/>
                </a:solidFill>
              </a:rPr>
              <a:t>Validator rejects: error goes back to the generator, one retry</a:t>
            </a:r>
            <a:endParaRPr lang="en-US" sz="1300" dirty="0"/>
          </a:p>
        </p:txBody>
      </p:sp>
      <p:sp>
        <p:nvSpPr>
          <p:cNvPr id="56" name="Note 3"/>
          <p:cNvSpPr/>
          <p:nvPr/>
        </p:nvSpPr>
        <p:spPr>
          <a:xfrm>
            <a:off x="8046720" y="5394960"/>
            <a:ext cx="3611880" cy="777240"/>
          </a:xfrm>
          <a:prstGeom prst="roundRect">
            <a:avLst>
              <a:gd name="adj" fmla="val 14118"/>
            </a:avLst>
          </a:prstGeom>
          <a:solidFill>
            <a:schemeClr val="accent6">
              <a:alpha val="12000"/>
            </a:schemeClr>
          </a:solidFill>
          <a:ln w="12700">
            <a:solidFill>
              <a:schemeClr val="accent6"/>
            </a:solidFill>
            <a:prstDash val="solid"/>
          </a:ln>
        </p:spPr>
      </p:sp>
      <p:sp>
        <p:nvSpPr>
          <p:cNvPr id="57" name="Text 47"/>
          <p:cNvSpPr txBox="1"/>
          <p:nvPr/>
        </p:nvSpPr>
        <p:spPr>
          <a:xfrm>
            <a:off x="8183880" y="5394960"/>
            <a:ext cx="3337560" cy="777240"/>
          </a:xfrm>
          <a:prstGeom prst="rect">
            <a:avLst/>
          </a:prstGeom>
          <a:noFill/>
          <a:ln/>
        </p:spPr>
        <p:txBody>
          <a:bodyPr wrap="square" lIns="0" tIns="0" rIns="0" bIns="0" rtlCol="0" anchor="ctr"/>
          <a:lstStyle/>
          <a:p>
            <a:pPr indent="0" marL="0">
              <a:buNone/>
            </a:pPr>
            <a:r>
              <a:rPr lang="en-US" sz="1300" dirty="0">
                <a:solidFill>
                  <a:schemeClr val="tx1"/>
                </a:solidFill>
              </a:rPr>
              <a:t>Database error: self-healing, one retry with the error</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How the pieces fit together</a:t>
            </a:r>
            <a:endParaRPr lang="en-US" sz="3600" dirty="0"/>
          </a:p>
        </p:txBody>
      </p:sp>
      <p:sp>
        <p:nvSpPr>
          <p:cNvPr id="3" name="Browser panel"/>
          <p:cNvSpPr/>
          <p:nvPr/>
        </p:nvSpPr>
        <p:spPr>
          <a:xfrm>
            <a:off x="548640" y="1463040"/>
            <a:ext cx="3108960" cy="4663440"/>
          </a:xfrm>
          <a:prstGeom prst="roundRect">
            <a:avLst>
              <a:gd name="adj" fmla="val 3529"/>
            </a:avLst>
          </a:prstGeom>
          <a:solidFill>
            <a:schemeClr val="bg2"/>
          </a:solidFill>
          <a:ln w="12700">
            <a:solidFill>
              <a:schemeClr val="bg2"/>
            </a:solidFill>
            <a:prstDash val="solid"/>
          </a:ln>
        </p:spPr>
      </p:sp>
      <p:sp>
        <p:nvSpPr>
          <p:cNvPr id="4" name="Browser circle"/>
          <p:cNvSpPr/>
          <p:nvPr/>
        </p:nvSpPr>
        <p:spPr>
          <a:xfrm>
            <a:off x="777240" y="1691640"/>
            <a:ext cx="548640" cy="548640"/>
          </a:xfrm>
          <a:prstGeom prst="ellipse">
            <a:avLst/>
          </a:prstGeom>
          <a:solidFill>
            <a:schemeClr val="accent1"/>
          </a:solidFill>
          <a:ln w="12700">
            <a:solidFill>
              <a:schemeClr val="accent1"/>
            </a:solidFill>
            <a:prstDash val="solid"/>
          </a:ln>
        </p:spPr>
      </p:sp>
      <p:pic>
        <p:nvPicPr>
          <p:cNvPr id="5" name="Browser icon" descr="Browser">    </p:cNvPr>
          <p:cNvPicPr>
            <a:picLocks noChangeAspect="1"/>
          </p:cNvPicPr>
          <p:nvPr/>
        </p:nvPicPr>
        <p:blipFill>
          <a:blip r:embed="rId1"/>
          <a:stretch>
            <a:fillRect/>
          </a:stretch>
        </p:blipFill>
        <p:spPr>
          <a:xfrm>
            <a:off x="919886" y="1834286"/>
            <a:ext cx="263347" cy="263347"/>
          </a:xfrm>
          <a:prstGeom prst="rect">
            <a:avLst/>
          </a:prstGeom>
        </p:spPr>
      </p:pic>
      <p:sp>
        <p:nvSpPr>
          <p:cNvPr id="6" name="Text 3"/>
          <p:cNvSpPr txBox="1"/>
          <p:nvPr/>
        </p:nvSpPr>
        <p:spPr>
          <a:xfrm>
            <a:off x="1463040" y="1691640"/>
            <a:ext cx="2103120" cy="548640"/>
          </a:xfrm>
          <a:prstGeom prst="rect">
            <a:avLst/>
          </a:prstGeom>
          <a:noFill/>
          <a:ln/>
        </p:spPr>
        <p:txBody>
          <a:bodyPr wrap="square" lIns="0" tIns="0" rIns="0" bIns="0" rtlCol="0" anchor="ctr"/>
          <a:lstStyle/>
          <a:p>
            <a:pPr indent="0" marL="0">
              <a:buNone/>
            </a:pPr>
            <a:r>
              <a:rPr lang="en-US" sz="1800" b="1" dirty="0">
                <a:solidFill>
                  <a:schemeClr val="tx1"/>
                </a:solidFill>
              </a:rPr>
              <a:t>Web UI (Next.js)</a:t>
            </a:r>
            <a:endParaRPr lang="en-US" sz="1800" dirty="0"/>
          </a:p>
        </p:txBody>
      </p:sp>
      <p:sp>
        <p:nvSpPr>
          <p:cNvPr id="7" name="Text 4"/>
          <p:cNvSpPr txBox="1"/>
          <p:nvPr/>
        </p:nvSpPr>
        <p:spPr>
          <a:xfrm>
            <a:off x="777240" y="2514600"/>
            <a:ext cx="2651760" cy="3383280"/>
          </a:xfrm>
          <a:prstGeom prst="rect">
            <a:avLst/>
          </a:prstGeom>
          <a:noFill/>
          <a:ln/>
        </p:spPr>
        <p:txBody>
          <a:bodyPr wrap="square" lIns="0" tIns="0" rIns="0" bIns="0" rtlCol="0" anchor="t"/>
          <a:lstStyle/>
          <a:p>
            <a:pPr indent="0" marL="0">
              <a:buNone/>
            </a:pPr>
            <a:r>
              <a:rPr lang="en-US" sz="1400" b="1" dirty="0">
                <a:solidFill>
                  <a:schemeClr val="tx2"/>
                </a:solidFill>
              </a:rPr>
              <a:t>Ask page</a:t>
            </a:r>
            <a:endParaRPr lang="en-US" sz="1400" dirty="0"/>
          </a:p>
          <a:p>
            <a:pPr indent="0" marL="0">
              <a:buNone/>
            </a:pPr>
            <a:r>
              <a:rPr lang="en-US" sz="1400" dirty="0">
                <a:solidFill>
                  <a:schemeClr val="tx2"/>
                </a:solidFill>
              </a:rPr>
              <a:t>table, chart, SQL, explain mode, voice</a:t>
            </a:r>
            <a:endParaRPr lang="en-US" sz="1400" dirty="0"/>
          </a:p>
          <a:p>
            <a:pPr indent="0" marL="0">
              <a:buNone/>
            </a:pPr>
            <a:r>
              <a:rPr lang="en-US" sz="800" dirty="0">
                <a:solidFill>
                  <a:schemeClr val="tx2"/>
                </a:solidFill>
              </a:rPr>
              <a:t> </a:t>
            </a:r>
            <a:endParaRPr lang="en-US" sz="1400" dirty="0"/>
          </a:p>
          <a:p>
            <a:pPr indent="0" marL="0">
              <a:buNone/>
            </a:pPr>
            <a:r>
              <a:rPr lang="en-US" sz="1400" b="1" dirty="0">
                <a:solidFill>
                  <a:schemeClr val="tx2"/>
                </a:solidFill>
              </a:rPr>
              <a:t>Admin panels</a:t>
            </a:r>
            <a:endParaRPr lang="en-US" sz="1400" dirty="0"/>
          </a:p>
          <a:p>
            <a:pPr indent="0" marL="0">
              <a:buNone/>
            </a:pPr>
            <a:r>
              <a:rPr lang="en-US" sz="1400" dirty="0">
                <a:solidFill>
                  <a:schemeClr val="tx2"/>
                </a:solidFill>
              </a:rPr>
              <a:t>schema, tables (CSV), examples, logs, guardrails, model</a:t>
            </a:r>
            <a:endParaRPr lang="en-US" sz="1400" dirty="0"/>
          </a:p>
          <a:p>
            <a:pPr indent="0" marL="0">
              <a:buNone/>
            </a:pPr>
            <a:r>
              <a:rPr lang="en-US" sz="800" dirty="0">
                <a:solidFill>
                  <a:schemeClr val="tx2"/>
                </a:solidFill>
              </a:rPr>
              <a:t> </a:t>
            </a:r>
            <a:endParaRPr lang="en-US" sz="1400" dirty="0"/>
          </a:p>
          <a:p>
            <a:pPr indent="0" marL="0">
              <a:buNone/>
            </a:pPr>
            <a:r>
              <a:rPr lang="en-US" sz="1400" b="1" dirty="0">
                <a:solidFill>
                  <a:schemeClr val="tx2"/>
                </a:solidFill>
              </a:rPr>
              <a:t>Connection</a:t>
            </a:r>
            <a:endParaRPr lang="en-US" sz="1400" dirty="0"/>
          </a:p>
          <a:p>
            <a:pPr indent="0" marL="0">
              <a:buNone/>
            </a:pPr>
            <a:r>
              <a:rPr lang="en-US" sz="1400" dirty="0">
                <a:solidFill>
                  <a:schemeClr val="tx2"/>
                </a:solidFill>
              </a:rPr>
              <a:t>talks to the API over HTTPS; the admin token stays in the browser tab only</a:t>
            </a:r>
            <a:endParaRPr lang="en-US" sz="1400" dirty="0"/>
          </a:p>
        </p:txBody>
      </p:sp>
      <p:sp>
        <p:nvSpPr>
          <p:cNvPr id="8" name="API panel"/>
          <p:cNvSpPr/>
          <p:nvPr/>
        </p:nvSpPr>
        <p:spPr>
          <a:xfrm>
            <a:off x="4663440" y="1463040"/>
            <a:ext cx="3108960" cy="4663440"/>
          </a:xfrm>
          <a:prstGeom prst="roundRect">
            <a:avLst>
              <a:gd name="adj" fmla="val 3529"/>
            </a:avLst>
          </a:prstGeom>
          <a:solidFill>
            <a:schemeClr val="accent1"/>
          </a:solidFill>
          <a:ln w="12700">
            <a:solidFill>
              <a:schemeClr val="accent1"/>
            </a:solidFill>
            <a:prstDash val="solid"/>
          </a:ln>
        </p:spPr>
      </p:sp>
      <p:sp>
        <p:nvSpPr>
          <p:cNvPr id="9" name="API circle"/>
          <p:cNvSpPr/>
          <p:nvPr/>
        </p:nvSpPr>
        <p:spPr>
          <a:xfrm>
            <a:off x="4892040" y="1691640"/>
            <a:ext cx="548640" cy="548640"/>
          </a:xfrm>
          <a:prstGeom prst="ellipse">
            <a:avLst/>
          </a:prstGeom>
          <a:solidFill>
            <a:schemeClr val="accent6"/>
          </a:solidFill>
          <a:ln w="12700">
            <a:solidFill>
              <a:schemeClr val="accent6"/>
            </a:solidFill>
            <a:prstDash val="solid"/>
          </a:ln>
        </p:spPr>
      </p:sp>
      <p:pic>
        <p:nvPicPr>
          <p:cNvPr id="10" name="API icon" descr="API">    </p:cNvPr>
          <p:cNvPicPr>
            <a:picLocks noChangeAspect="1"/>
          </p:cNvPicPr>
          <p:nvPr/>
        </p:nvPicPr>
        <p:blipFill>
          <a:blip r:embed="rId2"/>
          <a:stretch>
            <a:fillRect/>
          </a:stretch>
        </p:blipFill>
        <p:spPr>
          <a:xfrm>
            <a:off x="5034686" y="1834286"/>
            <a:ext cx="263347" cy="263347"/>
          </a:xfrm>
          <a:prstGeom prst="rect">
            <a:avLst/>
          </a:prstGeom>
        </p:spPr>
      </p:pic>
      <p:sp>
        <p:nvSpPr>
          <p:cNvPr id="11" name="Text 7"/>
          <p:cNvSpPr txBox="1"/>
          <p:nvPr/>
        </p:nvSpPr>
        <p:spPr>
          <a:xfrm>
            <a:off x="5577840" y="1691640"/>
            <a:ext cx="2103120" cy="548640"/>
          </a:xfrm>
          <a:prstGeom prst="rect">
            <a:avLst/>
          </a:prstGeom>
          <a:noFill/>
          <a:ln/>
        </p:spPr>
        <p:txBody>
          <a:bodyPr wrap="square" lIns="0" tIns="0" rIns="0" bIns="0" rtlCol="0" anchor="ctr"/>
          <a:lstStyle/>
          <a:p>
            <a:pPr indent="0" marL="0">
              <a:buNone/>
            </a:pPr>
            <a:r>
              <a:rPr lang="en-US" sz="1800" b="1" dirty="0">
                <a:solidFill>
                  <a:schemeClr val="bg1"/>
                </a:solidFill>
              </a:rPr>
              <a:t>API (FastAPI)</a:t>
            </a:r>
            <a:endParaRPr lang="en-US" sz="1800" dirty="0"/>
          </a:p>
        </p:txBody>
      </p:sp>
      <p:sp>
        <p:nvSpPr>
          <p:cNvPr id="12" name="Text 8"/>
          <p:cNvSpPr txBox="1"/>
          <p:nvPr/>
        </p:nvSpPr>
        <p:spPr>
          <a:xfrm>
            <a:off x="4892040" y="2514600"/>
            <a:ext cx="2651760" cy="3474720"/>
          </a:xfrm>
          <a:prstGeom prst="rect">
            <a:avLst/>
          </a:prstGeom>
          <a:noFill/>
          <a:ln/>
        </p:spPr>
        <p:txBody>
          <a:bodyPr wrap="square" lIns="0" tIns="0" rIns="0" bIns="0" rtlCol="0" anchor="t"/>
          <a:lstStyle/>
          <a:p>
            <a:pPr indent="0" marL="0">
              <a:buNone/>
            </a:pPr>
            <a:r>
              <a:rPr lang="en-US" sz="1400" b="1" dirty="0">
                <a:solidFill>
                  <a:schemeClr val="bg1"/>
                </a:solidFill>
              </a:rPr>
              <a:t>POST /query</a:t>
            </a:r>
            <a:endParaRPr lang="en-US" sz="1400" dirty="0"/>
          </a:p>
          <a:p>
            <a:pPr indent="0" marL="0">
              <a:buNone/>
            </a:pPr>
            <a:r>
              <a:rPr lang="en-US" sz="1400" dirty="0">
                <a:solidFill>
                  <a:schemeClr val="bg1"/>
                </a:solidFill>
              </a:rPr>
              <a:t>runs the 7-stage pipeline</a:t>
            </a:r>
            <a:endParaRPr lang="en-US" sz="1400" dirty="0"/>
          </a:p>
          <a:p>
            <a:pPr indent="0" marL="0">
              <a:buNone/>
            </a:pPr>
            <a:r>
              <a:rPr lang="en-US" sz="800" dirty="0">
                <a:solidFill>
                  <a:schemeClr val="bg1"/>
                </a:solidFill>
              </a:rPr>
              <a:t> </a:t>
            </a:r>
            <a:endParaRPr lang="en-US" sz="1400" dirty="0"/>
          </a:p>
          <a:p>
            <a:pPr indent="0" marL="0">
              <a:buNone/>
            </a:pPr>
            <a:r>
              <a:rPr lang="en-US" sz="1400" b="1" dirty="0">
                <a:solidFill>
                  <a:schemeClr val="bg1"/>
                </a:solidFill>
              </a:rPr>
              <a:t>/admin/*</a:t>
            </a:r>
            <a:endParaRPr lang="en-US" sz="1400" dirty="0"/>
          </a:p>
          <a:p>
            <a:pPr indent="0" marL="0">
              <a:buNone/>
            </a:pPr>
            <a:r>
              <a:rPr lang="en-US" sz="1400" dirty="0">
                <a:solidFill>
                  <a:schemeClr val="bg1"/>
                </a:solidFill>
              </a:rPr>
              <a:t>schema, examples, logs, guardrails, config, CSV import</a:t>
            </a:r>
            <a:endParaRPr lang="en-US" sz="1400" dirty="0"/>
          </a:p>
          <a:p>
            <a:pPr indent="0" marL="0">
              <a:buNone/>
            </a:pPr>
            <a:r>
              <a:rPr lang="en-US" sz="800" dirty="0">
                <a:solidFill>
                  <a:schemeClr val="bg1"/>
                </a:solidFill>
              </a:rPr>
              <a:t> </a:t>
            </a:r>
            <a:endParaRPr lang="en-US" sz="1400" dirty="0"/>
          </a:p>
          <a:p>
            <a:pPr indent="0" marL="0">
              <a:buNone/>
            </a:pPr>
            <a:r>
              <a:rPr lang="en-US" sz="1400" b="1" dirty="0">
                <a:solidFill>
                  <a:schemeClr val="bg1"/>
                </a:solidFill>
              </a:rPr>
              <a:t>Protection</a:t>
            </a:r>
            <a:endParaRPr lang="en-US" sz="1400" dirty="0"/>
          </a:p>
          <a:p>
            <a:pPr indent="0" marL="0">
              <a:buNone/>
            </a:pPr>
            <a:r>
              <a:rPr lang="en-US" sz="1400" dirty="0">
                <a:solidFill>
                  <a:schemeClr val="bg1"/>
                </a:solidFill>
              </a:rPr>
              <a:t>admin token, rate limit, daily cap</a:t>
            </a:r>
            <a:endParaRPr lang="en-US" sz="1400" dirty="0"/>
          </a:p>
        </p:txBody>
      </p:sp>
      <p:sp>
        <p:nvSpPr>
          <p:cNvPr id="13" name="Service LLM provider"/>
          <p:cNvSpPr/>
          <p:nvPr/>
        </p:nvSpPr>
        <p:spPr>
          <a:xfrm>
            <a:off x="8778240" y="1463040"/>
            <a:ext cx="2862072" cy="1051560"/>
          </a:xfrm>
          <a:prstGeom prst="roundRect">
            <a:avLst>
              <a:gd name="adj" fmla="val 10435"/>
            </a:avLst>
          </a:prstGeom>
          <a:solidFill>
            <a:schemeClr val="bg2"/>
          </a:solidFill>
          <a:ln w="12700">
            <a:solidFill>
              <a:schemeClr val="bg2"/>
            </a:solidFill>
            <a:prstDash val="solid"/>
          </a:ln>
        </p:spPr>
      </p:sp>
      <p:sp>
        <p:nvSpPr>
          <p:cNvPr id="14" name="LLM provider circle"/>
          <p:cNvSpPr/>
          <p:nvPr/>
        </p:nvSpPr>
        <p:spPr>
          <a:xfrm>
            <a:off x="8915400" y="1709928"/>
            <a:ext cx="548640" cy="548640"/>
          </a:xfrm>
          <a:prstGeom prst="ellipse">
            <a:avLst/>
          </a:prstGeom>
          <a:solidFill>
            <a:schemeClr val="accent6"/>
          </a:solidFill>
          <a:ln w="12700">
            <a:solidFill>
              <a:schemeClr val="accent6"/>
            </a:solidFill>
            <a:prstDash val="solid"/>
          </a:ln>
        </p:spPr>
      </p:sp>
      <p:pic>
        <p:nvPicPr>
          <p:cNvPr id="15" name="LLM provider icon" descr="LLM provider">    </p:cNvPr>
          <p:cNvPicPr>
            <a:picLocks noChangeAspect="1"/>
          </p:cNvPicPr>
          <p:nvPr/>
        </p:nvPicPr>
        <p:blipFill>
          <a:blip r:embed="rId3"/>
          <a:stretch>
            <a:fillRect/>
          </a:stretch>
        </p:blipFill>
        <p:spPr>
          <a:xfrm>
            <a:off x="9058046" y="1852574"/>
            <a:ext cx="263347" cy="263347"/>
          </a:xfrm>
          <a:prstGeom prst="rect">
            <a:avLst/>
          </a:prstGeom>
        </p:spPr>
      </p:pic>
      <p:sp>
        <p:nvSpPr>
          <p:cNvPr id="16" name="Text 11"/>
          <p:cNvSpPr txBox="1"/>
          <p:nvPr/>
        </p:nvSpPr>
        <p:spPr>
          <a:xfrm>
            <a:off x="9601200" y="1572768"/>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LLM provider</a:t>
            </a:r>
            <a:endParaRPr lang="en-US" sz="1500" dirty="0"/>
          </a:p>
        </p:txBody>
      </p:sp>
      <p:sp>
        <p:nvSpPr>
          <p:cNvPr id="17" name="Text 12"/>
          <p:cNvSpPr txBox="1"/>
          <p:nvPr/>
        </p:nvSpPr>
        <p:spPr>
          <a:xfrm>
            <a:off x="9601200" y="1938528"/>
            <a:ext cx="1965960" cy="548640"/>
          </a:xfrm>
          <a:prstGeom prst="rect">
            <a:avLst/>
          </a:prstGeom>
          <a:noFill/>
          <a:ln/>
        </p:spPr>
        <p:txBody>
          <a:bodyPr wrap="square" lIns="0" tIns="0" rIns="0" bIns="0" rtlCol="0" anchor="t"/>
          <a:lstStyle/>
          <a:p>
            <a:pPr indent="0" marL="0">
              <a:buNone/>
            </a:pPr>
            <a:r>
              <a:rPr lang="en-US" sz="1200" dirty="0">
                <a:solidFill>
                  <a:schemeClr val="tx2"/>
                </a:solidFill>
              </a:rPr>
              <a:t>Claude subscription (CLI), Anthropic, OpenAI or Ollama</a:t>
            </a:r>
            <a:endParaRPr lang="en-US" sz="1200" dirty="0"/>
          </a:p>
        </p:txBody>
      </p:sp>
      <p:sp>
        <p:nvSpPr>
          <p:cNvPr id="18" name="Arrow to LLM provider"/>
          <p:cNvSpPr/>
          <p:nvPr/>
        </p:nvSpPr>
        <p:spPr>
          <a:xfrm flipV="1">
            <a:off x="7827264" y="1984248"/>
            <a:ext cx="896112" cy="73152"/>
          </a:xfrm>
          <a:prstGeom prst="line">
            <a:avLst/>
          </a:prstGeom>
          <a:noFill/>
          <a:ln w="25400">
            <a:solidFill>
              <a:srgbClr val="475569"/>
            </a:solidFill>
            <a:prstDash val="solid"/>
            <a:tailEnd type="triangle"/>
          </a:ln>
        </p:spPr>
      </p:sp>
      <p:sp>
        <p:nvSpPr>
          <p:cNvPr id="19" name="Service ChromaDB"/>
          <p:cNvSpPr/>
          <p:nvPr/>
        </p:nvSpPr>
        <p:spPr>
          <a:xfrm>
            <a:off x="8778240" y="2651760"/>
            <a:ext cx="2862072" cy="1051560"/>
          </a:xfrm>
          <a:prstGeom prst="roundRect">
            <a:avLst>
              <a:gd name="adj" fmla="val 10435"/>
            </a:avLst>
          </a:prstGeom>
          <a:solidFill>
            <a:schemeClr val="bg2"/>
          </a:solidFill>
          <a:ln w="12700">
            <a:solidFill>
              <a:schemeClr val="bg2"/>
            </a:solidFill>
            <a:prstDash val="solid"/>
          </a:ln>
        </p:spPr>
      </p:sp>
      <p:sp>
        <p:nvSpPr>
          <p:cNvPr id="20" name="ChromaDB circle"/>
          <p:cNvSpPr/>
          <p:nvPr/>
        </p:nvSpPr>
        <p:spPr>
          <a:xfrm>
            <a:off x="8915400" y="2898648"/>
            <a:ext cx="548640" cy="548640"/>
          </a:xfrm>
          <a:prstGeom prst="ellipse">
            <a:avLst/>
          </a:prstGeom>
          <a:solidFill>
            <a:schemeClr val="accent5"/>
          </a:solidFill>
          <a:ln w="12700">
            <a:solidFill>
              <a:schemeClr val="accent5"/>
            </a:solidFill>
            <a:prstDash val="solid"/>
          </a:ln>
        </p:spPr>
      </p:sp>
      <p:pic>
        <p:nvPicPr>
          <p:cNvPr id="21" name="ChromaDB icon" descr="ChromaDB">    </p:cNvPr>
          <p:cNvPicPr>
            <a:picLocks noChangeAspect="1"/>
          </p:cNvPicPr>
          <p:nvPr/>
        </p:nvPicPr>
        <p:blipFill>
          <a:blip r:embed="rId4"/>
          <a:stretch>
            <a:fillRect/>
          </a:stretch>
        </p:blipFill>
        <p:spPr>
          <a:xfrm>
            <a:off x="9058046" y="3041294"/>
            <a:ext cx="263347" cy="263347"/>
          </a:xfrm>
          <a:prstGeom prst="rect">
            <a:avLst/>
          </a:prstGeom>
        </p:spPr>
      </p:pic>
      <p:sp>
        <p:nvSpPr>
          <p:cNvPr id="22" name="Text 16"/>
          <p:cNvSpPr txBox="1"/>
          <p:nvPr/>
        </p:nvSpPr>
        <p:spPr>
          <a:xfrm>
            <a:off x="9601200" y="2761488"/>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ChromaDB</a:t>
            </a:r>
            <a:endParaRPr lang="en-US" sz="1500" dirty="0"/>
          </a:p>
        </p:txBody>
      </p:sp>
      <p:sp>
        <p:nvSpPr>
          <p:cNvPr id="23" name="Text 17"/>
          <p:cNvSpPr txBox="1"/>
          <p:nvPr/>
        </p:nvSpPr>
        <p:spPr>
          <a:xfrm>
            <a:off x="9601200" y="3127248"/>
            <a:ext cx="1965960" cy="548640"/>
          </a:xfrm>
          <a:prstGeom prst="rect">
            <a:avLst/>
          </a:prstGeom>
          <a:noFill/>
          <a:ln/>
        </p:spPr>
        <p:txBody>
          <a:bodyPr wrap="square" lIns="0" tIns="0" rIns="0" bIns="0" rtlCol="0" anchor="t"/>
          <a:lstStyle/>
          <a:p>
            <a:pPr indent="0" marL="0">
              <a:buNone/>
            </a:pPr>
            <a:r>
              <a:rPr lang="en-US" sz="1200" dirty="0">
                <a:solidFill>
                  <a:schemeClr val="tx2"/>
                </a:solidFill>
              </a:rPr>
              <a:t>Example index and semantic cache</a:t>
            </a:r>
            <a:endParaRPr lang="en-US" sz="1200" dirty="0"/>
          </a:p>
        </p:txBody>
      </p:sp>
      <p:sp>
        <p:nvSpPr>
          <p:cNvPr id="24" name="Arrow to ChromaDB"/>
          <p:cNvSpPr/>
          <p:nvPr/>
        </p:nvSpPr>
        <p:spPr>
          <a:xfrm flipV="1">
            <a:off x="7827264" y="3172968"/>
            <a:ext cx="896112" cy="73152"/>
          </a:xfrm>
          <a:prstGeom prst="line">
            <a:avLst/>
          </a:prstGeom>
          <a:noFill/>
          <a:ln w="25400">
            <a:solidFill>
              <a:srgbClr val="475569"/>
            </a:solidFill>
            <a:prstDash val="solid"/>
            <a:tailEnd type="triangle"/>
          </a:ln>
        </p:spPr>
      </p:sp>
      <p:sp>
        <p:nvSpPr>
          <p:cNvPr id="25" name="Service admin.db (SQLite)"/>
          <p:cNvSpPr/>
          <p:nvPr/>
        </p:nvSpPr>
        <p:spPr>
          <a:xfrm>
            <a:off x="8778240" y="3840480"/>
            <a:ext cx="2862072" cy="1051560"/>
          </a:xfrm>
          <a:prstGeom prst="roundRect">
            <a:avLst>
              <a:gd name="adj" fmla="val 10435"/>
            </a:avLst>
          </a:prstGeom>
          <a:solidFill>
            <a:schemeClr val="bg2"/>
          </a:solidFill>
          <a:ln w="12700">
            <a:solidFill>
              <a:schemeClr val="bg2"/>
            </a:solidFill>
            <a:prstDash val="solid"/>
          </a:ln>
        </p:spPr>
      </p:sp>
      <p:sp>
        <p:nvSpPr>
          <p:cNvPr id="26" name="admin.db (SQLite) circle"/>
          <p:cNvSpPr/>
          <p:nvPr/>
        </p:nvSpPr>
        <p:spPr>
          <a:xfrm>
            <a:off x="8915400" y="4087368"/>
            <a:ext cx="548640" cy="548640"/>
          </a:xfrm>
          <a:prstGeom prst="ellipse">
            <a:avLst/>
          </a:prstGeom>
          <a:solidFill>
            <a:schemeClr val="accent3"/>
          </a:solidFill>
          <a:ln w="12700">
            <a:solidFill>
              <a:schemeClr val="accent3"/>
            </a:solidFill>
            <a:prstDash val="solid"/>
          </a:ln>
        </p:spPr>
      </p:sp>
      <p:pic>
        <p:nvPicPr>
          <p:cNvPr id="27" name="admin.db (SQLite) icon" descr="admin.db (SQLite)">    </p:cNvPr>
          <p:cNvPicPr>
            <a:picLocks noChangeAspect="1"/>
          </p:cNvPicPr>
          <p:nvPr/>
        </p:nvPicPr>
        <p:blipFill>
          <a:blip r:embed="rId5"/>
          <a:stretch>
            <a:fillRect/>
          </a:stretch>
        </p:blipFill>
        <p:spPr>
          <a:xfrm>
            <a:off x="9058046" y="4230014"/>
            <a:ext cx="263347" cy="263347"/>
          </a:xfrm>
          <a:prstGeom prst="rect">
            <a:avLst/>
          </a:prstGeom>
        </p:spPr>
      </p:pic>
      <p:sp>
        <p:nvSpPr>
          <p:cNvPr id="28" name="Text 21"/>
          <p:cNvSpPr txBox="1"/>
          <p:nvPr/>
        </p:nvSpPr>
        <p:spPr>
          <a:xfrm>
            <a:off x="9601200" y="3950208"/>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admin.db (SQLite)</a:t>
            </a:r>
            <a:endParaRPr lang="en-US" sz="1500" dirty="0"/>
          </a:p>
        </p:txBody>
      </p:sp>
      <p:sp>
        <p:nvSpPr>
          <p:cNvPr id="29" name="Text 22"/>
          <p:cNvSpPr txBox="1"/>
          <p:nvPr/>
        </p:nvSpPr>
        <p:spPr>
          <a:xfrm>
            <a:off x="9601200" y="4315968"/>
            <a:ext cx="1965960" cy="548640"/>
          </a:xfrm>
          <a:prstGeom prst="rect">
            <a:avLst/>
          </a:prstGeom>
          <a:noFill/>
          <a:ln/>
        </p:spPr>
        <p:txBody>
          <a:bodyPr wrap="square" lIns="0" tIns="0" rIns="0" bIns="0" rtlCol="0" anchor="t"/>
          <a:lstStyle/>
          <a:p>
            <a:pPr indent="0" marL="0">
              <a:buNone/>
            </a:pPr>
            <a:r>
              <a:rPr lang="en-US" sz="1200" dirty="0">
                <a:solidFill>
                  <a:schemeClr val="tx2"/>
                </a:solidFill>
              </a:rPr>
              <a:t>Schema notes, examples, config, query logs</a:t>
            </a:r>
            <a:endParaRPr lang="en-US" sz="1200" dirty="0"/>
          </a:p>
        </p:txBody>
      </p:sp>
      <p:sp>
        <p:nvSpPr>
          <p:cNvPr id="30" name="Arrow to admin.db (SQLite)"/>
          <p:cNvSpPr/>
          <p:nvPr/>
        </p:nvSpPr>
        <p:spPr>
          <a:xfrm flipV="1">
            <a:off x="7827264" y="4361688"/>
            <a:ext cx="896112" cy="73152"/>
          </a:xfrm>
          <a:prstGeom prst="line">
            <a:avLst/>
          </a:prstGeom>
          <a:noFill/>
          <a:ln w="25400">
            <a:solidFill>
              <a:srgbClr val="475569"/>
            </a:solidFill>
            <a:prstDash val="solid"/>
            <a:tailEnd type="triangle"/>
          </a:ln>
        </p:spPr>
      </p:sp>
      <p:sp>
        <p:nvSpPr>
          <p:cNvPr id="31" name="Service business.db (SQLite)"/>
          <p:cNvSpPr/>
          <p:nvPr/>
        </p:nvSpPr>
        <p:spPr>
          <a:xfrm>
            <a:off x="8778240" y="5029200"/>
            <a:ext cx="2862072" cy="1051560"/>
          </a:xfrm>
          <a:prstGeom prst="roundRect">
            <a:avLst>
              <a:gd name="adj" fmla="val 10435"/>
            </a:avLst>
          </a:prstGeom>
          <a:solidFill>
            <a:schemeClr val="bg2"/>
          </a:solidFill>
          <a:ln w="12700">
            <a:solidFill>
              <a:schemeClr val="bg2"/>
            </a:solidFill>
            <a:prstDash val="solid"/>
          </a:ln>
        </p:spPr>
      </p:sp>
      <p:sp>
        <p:nvSpPr>
          <p:cNvPr id="32" name="business.db (SQLite) circle"/>
          <p:cNvSpPr/>
          <p:nvPr/>
        </p:nvSpPr>
        <p:spPr>
          <a:xfrm>
            <a:off x="8915400" y="5276088"/>
            <a:ext cx="548640" cy="548640"/>
          </a:xfrm>
          <a:prstGeom prst="ellipse">
            <a:avLst/>
          </a:prstGeom>
          <a:solidFill>
            <a:schemeClr val="accent4"/>
          </a:solidFill>
          <a:ln w="12700">
            <a:solidFill>
              <a:schemeClr val="accent4"/>
            </a:solidFill>
            <a:prstDash val="solid"/>
          </a:ln>
        </p:spPr>
      </p:sp>
      <p:pic>
        <p:nvPicPr>
          <p:cNvPr id="33" name="business.db (SQLite) icon" descr="business.db (SQLite)">    </p:cNvPr>
          <p:cNvPicPr>
            <a:picLocks noChangeAspect="1"/>
          </p:cNvPicPr>
          <p:nvPr/>
        </p:nvPicPr>
        <p:blipFill>
          <a:blip r:embed="rId6"/>
          <a:stretch>
            <a:fillRect/>
          </a:stretch>
        </p:blipFill>
        <p:spPr>
          <a:xfrm>
            <a:off x="9058046" y="5418734"/>
            <a:ext cx="263347" cy="263347"/>
          </a:xfrm>
          <a:prstGeom prst="rect">
            <a:avLst/>
          </a:prstGeom>
        </p:spPr>
      </p:pic>
      <p:sp>
        <p:nvSpPr>
          <p:cNvPr id="34" name="Text 26"/>
          <p:cNvSpPr txBox="1"/>
          <p:nvPr/>
        </p:nvSpPr>
        <p:spPr>
          <a:xfrm>
            <a:off x="9601200" y="5138928"/>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business.db (SQLite)</a:t>
            </a:r>
            <a:endParaRPr lang="en-US" sz="1500" dirty="0"/>
          </a:p>
        </p:txBody>
      </p:sp>
      <p:sp>
        <p:nvSpPr>
          <p:cNvPr id="35" name="Text 27"/>
          <p:cNvSpPr txBox="1"/>
          <p:nvPr/>
        </p:nvSpPr>
        <p:spPr>
          <a:xfrm>
            <a:off x="9601200" y="5504688"/>
            <a:ext cx="1965960" cy="548640"/>
          </a:xfrm>
          <a:prstGeom prst="rect">
            <a:avLst/>
          </a:prstGeom>
          <a:noFill/>
          <a:ln/>
        </p:spPr>
        <p:txBody>
          <a:bodyPr wrap="square" lIns="0" tIns="0" rIns="0" bIns="0" rtlCol="0" anchor="t"/>
          <a:lstStyle/>
          <a:p>
            <a:pPr indent="0" marL="0">
              <a:buNone/>
            </a:pPr>
            <a:r>
              <a:rPr lang="en-US" sz="1200" dirty="0">
                <a:solidFill>
                  <a:schemeClr val="tx2"/>
                </a:solidFill>
              </a:rPr>
              <a:t>Your data, opened read-only</a:t>
            </a:r>
            <a:endParaRPr lang="en-US" sz="1200" dirty="0"/>
          </a:p>
        </p:txBody>
      </p:sp>
      <p:sp>
        <p:nvSpPr>
          <p:cNvPr id="36" name="Arrow to business.db (SQLite)"/>
          <p:cNvSpPr/>
          <p:nvPr/>
        </p:nvSpPr>
        <p:spPr>
          <a:xfrm flipV="1">
            <a:off x="7827264" y="5550408"/>
            <a:ext cx="896112" cy="73152"/>
          </a:xfrm>
          <a:prstGeom prst="line">
            <a:avLst/>
          </a:prstGeom>
          <a:noFill/>
          <a:ln w="25400">
            <a:solidFill>
              <a:srgbClr val="475569"/>
            </a:solidFill>
            <a:prstDash val="solid"/>
            <a:tailEnd type="triangle"/>
          </a:ln>
        </p:spPr>
      </p:sp>
      <p:sp>
        <p:nvSpPr>
          <p:cNvPr id="37" name="Arrow browser to API"/>
          <p:cNvSpPr/>
          <p:nvPr/>
        </p:nvSpPr>
        <p:spPr>
          <a:xfrm>
            <a:off x="3712464" y="3794760"/>
            <a:ext cx="896112" cy="0"/>
          </a:xfrm>
          <a:prstGeom prst="line">
            <a:avLst/>
          </a:prstGeom>
          <a:noFill/>
          <a:ln w="25400">
            <a:solidFill>
              <a:srgbClr val="475569"/>
            </a:solidFill>
            <a:prstDash val="solid"/>
            <a:tailEnd type="triangle"/>
          </a:ln>
        </p:spPr>
      </p:sp>
      <p:sp>
        <p:nvSpPr>
          <p:cNvPr id="38" name="Text 30"/>
          <p:cNvSpPr txBox="1"/>
          <p:nvPr/>
        </p:nvSpPr>
        <p:spPr>
          <a:xfrm>
            <a:off x="3611880" y="3429000"/>
            <a:ext cx="1097280" cy="274320"/>
          </a:xfrm>
          <a:prstGeom prst="rect">
            <a:avLst/>
          </a:prstGeom>
          <a:noFill/>
          <a:ln/>
        </p:spPr>
        <p:txBody>
          <a:bodyPr wrap="square" lIns="0" tIns="0" rIns="0" bIns="0" rtlCol="0" anchor="ctr"/>
          <a:lstStyle/>
          <a:p>
            <a:pPr algn="ctr" indent="0" marL="0">
              <a:buNone/>
            </a:pPr>
            <a:r>
              <a:rPr lang="en-US" sz="1200" dirty="0">
                <a:solidFill>
                  <a:schemeClr val="tx2"/>
                </a:solidFill>
              </a:rPr>
              <a:t>HTTPS</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Safe by design: six layers of defence</a:t>
            </a:r>
            <a:endParaRPr lang="en-US" sz="3600" dirty="0"/>
          </a:p>
        </p:txBody>
      </p:sp>
      <p:sp>
        <p:nvSpPr>
          <p:cNvPr id="3" name="Layer 1"/>
          <p:cNvSpPr/>
          <p:nvPr/>
        </p:nvSpPr>
        <p:spPr>
          <a:xfrm>
            <a:off x="548640" y="1508760"/>
            <a:ext cx="5394960" cy="1371600"/>
          </a:xfrm>
          <a:prstGeom prst="roundRect">
            <a:avLst>
              <a:gd name="adj" fmla="val 8000"/>
            </a:avLst>
          </a:prstGeom>
          <a:solidFill>
            <a:schemeClr val="bg2"/>
          </a:solidFill>
          <a:ln w="12700">
            <a:solidFill>
              <a:schemeClr val="bg2"/>
            </a:solidFill>
            <a:prstDash val="solid"/>
          </a:ln>
        </p:spPr>
      </p:sp>
      <p:sp>
        <p:nvSpPr>
          <p:cNvPr id="4" name="1  Keyword pre-check circle"/>
          <p:cNvSpPr/>
          <p:nvPr/>
        </p:nvSpPr>
        <p:spPr>
          <a:xfrm>
            <a:off x="777240" y="1856232"/>
            <a:ext cx="685800" cy="685800"/>
          </a:xfrm>
          <a:prstGeom prst="ellipse">
            <a:avLst/>
          </a:prstGeom>
          <a:solidFill>
            <a:schemeClr val="accent3"/>
          </a:solidFill>
          <a:ln w="12700">
            <a:solidFill>
              <a:schemeClr val="accent3"/>
            </a:solidFill>
            <a:prstDash val="solid"/>
          </a:ln>
        </p:spPr>
      </p:sp>
      <p:pic>
        <p:nvPicPr>
          <p:cNvPr id="5" name="1  Keyword pre-check icon" descr="1  Keyword pre-check">    </p:cNvPr>
          <p:cNvPicPr>
            <a:picLocks noChangeAspect="1"/>
          </p:cNvPicPr>
          <p:nvPr/>
        </p:nvPicPr>
        <p:blipFill>
          <a:blip r:embed="rId1"/>
          <a:stretch>
            <a:fillRect/>
          </a:stretch>
        </p:blipFill>
        <p:spPr>
          <a:xfrm>
            <a:off x="955548" y="2034540"/>
            <a:ext cx="329184" cy="329184"/>
          </a:xfrm>
          <a:prstGeom prst="rect">
            <a:avLst/>
          </a:prstGeom>
        </p:spPr>
      </p:pic>
      <p:sp>
        <p:nvSpPr>
          <p:cNvPr id="6" name="Text 3"/>
          <p:cNvSpPr txBox="1"/>
          <p:nvPr/>
        </p:nvSpPr>
        <p:spPr>
          <a:xfrm>
            <a:off x="1645920" y="1673352"/>
            <a:ext cx="4114800" cy="365760"/>
          </a:xfrm>
          <a:prstGeom prst="rect">
            <a:avLst/>
          </a:prstGeom>
          <a:noFill/>
          <a:ln/>
        </p:spPr>
        <p:txBody>
          <a:bodyPr wrap="square" lIns="0" tIns="0" rIns="0" bIns="0" rtlCol="0" anchor="ctr"/>
          <a:lstStyle/>
          <a:p>
            <a:pPr indent="0" marL="0">
              <a:buNone/>
            </a:pPr>
            <a:r>
              <a:rPr lang="en-US" sz="1800" b="1" dirty="0">
                <a:solidFill>
                  <a:schemeClr val="tx1"/>
                </a:solidFill>
              </a:rPr>
              <a:t>1  Keyword pre-check</a:t>
            </a:r>
            <a:endParaRPr lang="en-US" sz="1800" dirty="0"/>
          </a:p>
        </p:txBody>
      </p:sp>
      <p:sp>
        <p:nvSpPr>
          <p:cNvPr id="7" name="Text 4"/>
          <p:cNvSpPr txBox="1"/>
          <p:nvPr/>
        </p:nvSpPr>
        <p:spPr>
          <a:xfrm>
            <a:off x="1645920" y="2075688"/>
            <a:ext cx="4114800" cy="731520"/>
          </a:xfrm>
          <a:prstGeom prst="rect">
            <a:avLst/>
          </a:prstGeom>
          <a:noFill/>
          <a:ln/>
        </p:spPr>
        <p:txBody>
          <a:bodyPr wrap="square" lIns="0" tIns="0" rIns="0" bIns="0" rtlCol="0" anchor="t"/>
          <a:lstStyle/>
          <a:p>
            <a:pPr indent="0" marL="0">
              <a:buNone/>
            </a:pPr>
            <a:r>
              <a:rPr lang="en-US" sz="1400" dirty="0">
                <a:solidFill>
                  <a:schemeClr val="tx2"/>
                </a:solidFill>
              </a:rPr>
              <a:t>Destructive requests are refused before any AI call, even with no API key.</a:t>
            </a:r>
            <a:endParaRPr lang="en-US" sz="1400" dirty="0"/>
          </a:p>
        </p:txBody>
      </p:sp>
      <p:sp>
        <p:nvSpPr>
          <p:cNvPr id="8" name="Layer 2"/>
          <p:cNvSpPr/>
          <p:nvPr/>
        </p:nvSpPr>
        <p:spPr>
          <a:xfrm>
            <a:off x="6217920" y="1508760"/>
            <a:ext cx="5394960" cy="1371600"/>
          </a:xfrm>
          <a:prstGeom prst="roundRect">
            <a:avLst>
              <a:gd name="adj" fmla="val 8000"/>
            </a:avLst>
          </a:prstGeom>
          <a:solidFill>
            <a:schemeClr val="bg2"/>
          </a:solidFill>
          <a:ln w="12700">
            <a:solidFill>
              <a:schemeClr val="bg2"/>
            </a:solidFill>
            <a:prstDash val="solid"/>
          </a:ln>
        </p:spPr>
      </p:sp>
      <p:sp>
        <p:nvSpPr>
          <p:cNvPr id="9" name="2  Safe prompting circle"/>
          <p:cNvSpPr/>
          <p:nvPr/>
        </p:nvSpPr>
        <p:spPr>
          <a:xfrm>
            <a:off x="6446520" y="1856232"/>
            <a:ext cx="685800" cy="685800"/>
          </a:xfrm>
          <a:prstGeom prst="ellipse">
            <a:avLst/>
          </a:prstGeom>
          <a:solidFill>
            <a:schemeClr val="accent6"/>
          </a:solidFill>
          <a:ln w="12700">
            <a:solidFill>
              <a:schemeClr val="accent6"/>
            </a:solidFill>
            <a:prstDash val="solid"/>
          </a:ln>
        </p:spPr>
      </p:sp>
      <p:pic>
        <p:nvPicPr>
          <p:cNvPr id="10" name="2  Safe prompting icon" descr="2  Safe prompting">    </p:cNvPr>
          <p:cNvPicPr>
            <a:picLocks noChangeAspect="1"/>
          </p:cNvPicPr>
          <p:nvPr/>
        </p:nvPicPr>
        <p:blipFill>
          <a:blip r:embed="rId2"/>
          <a:stretch>
            <a:fillRect/>
          </a:stretch>
        </p:blipFill>
        <p:spPr>
          <a:xfrm>
            <a:off x="6624828" y="2034540"/>
            <a:ext cx="329184" cy="329184"/>
          </a:xfrm>
          <a:prstGeom prst="rect">
            <a:avLst/>
          </a:prstGeom>
        </p:spPr>
      </p:pic>
      <p:sp>
        <p:nvSpPr>
          <p:cNvPr id="11" name="Text 7"/>
          <p:cNvSpPr txBox="1"/>
          <p:nvPr/>
        </p:nvSpPr>
        <p:spPr>
          <a:xfrm>
            <a:off x="7315200" y="1673352"/>
            <a:ext cx="4114800" cy="365760"/>
          </a:xfrm>
          <a:prstGeom prst="rect">
            <a:avLst/>
          </a:prstGeom>
          <a:noFill/>
          <a:ln/>
        </p:spPr>
        <p:txBody>
          <a:bodyPr wrap="square" lIns="0" tIns="0" rIns="0" bIns="0" rtlCol="0" anchor="ctr"/>
          <a:lstStyle/>
          <a:p>
            <a:pPr indent="0" marL="0">
              <a:buNone/>
            </a:pPr>
            <a:r>
              <a:rPr lang="en-US" sz="1800" b="1" dirty="0">
                <a:solidFill>
                  <a:schemeClr val="tx1"/>
                </a:solidFill>
              </a:rPr>
              <a:t>2  Safe prompting</a:t>
            </a:r>
            <a:endParaRPr lang="en-US" sz="1800" dirty="0"/>
          </a:p>
        </p:txBody>
      </p:sp>
      <p:sp>
        <p:nvSpPr>
          <p:cNvPr id="12" name="Text 8"/>
          <p:cNvSpPr txBox="1"/>
          <p:nvPr/>
        </p:nvSpPr>
        <p:spPr>
          <a:xfrm>
            <a:off x="7315200" y="2075688"/>
            <a:ext cx="4114800" cy="731520"/>
          </a:xfrm>
          <a:prstGeom prst="rect">
            <a:avLst/>
          </a:prstGeom>
          <a:noFill/>
          <a:ln/>
        </p:spPr>
        <p:txBody>
          <a:bodyPr wrap="square" lIns="0" tIns="0" rIns="0" bIns="0" rtlCol="0" anchor="t"/>
          <a:lstStyle/>
          <a:p>
            <a:pPr indent="0" marL="0">
              <a:buNone/>
            </a:pPr>
            <a:r>
              <a:rPr lang="en-US" sz="1400" dirty="0">
                <a:solidFill>
                  <a:schemeClr val="tx2"/>
                </a:solidFill>
              </a:rPr>
              <a:t>SELECT-only rules, and the user's question is treated as untrusted data.</a:t>
            </a:r>
            <a:endParaRPr lang="en-US" sz="1400" dirty="0"/>
          </a:p>
        </p:txBody>
      </p:sp>
      <p:sp>
        <p:nvSpPr>
          <p:cNvPr id="13" name="Layer 3"/>
          <p:cNvSpPr/>
          <p:nvPr/>
        </p:nvSpPr>
        <p:spPr>
          <a:xfrm>
            <a:off x="548640" y="3063240"/>
            <a:ext cx="5394960" cy="1371600"/>
          </a:xfrm>
          <a:prstGeom prst="roundRect">
            <a:avLst>
              <a:gd name="adj" fmla="val 8000"/>
            </a:avLst>
          </a:prstGeom>
          <a:solidFill>
            <a:schemeClr val="bg2"/>
          </a:solidFill>
          <a:ln w="12700">
            <a:solidFill>
              <a:schemeClr val="bg2"/>
            </a:solidFill>
            <a:prstDash val="solid"/>
          </a:ln>
        </p:spPr>
      </p:sp>
      <p:sp>
        <p:nvSpPr>
          <p:cNvPr id="14" name="3  AST validator circle"/>
          <p:cNvSpPr/>
          <p:nvPr/>
        </p:nvSpPr>
        <p:spPr>
          <a:xfrm>
            <a:off x="777240" y="3410712"/>
            <a:ext cx="685800" cy="685800"/>
          </a:xfrm>
          <a:prstGeom prst="ellipse">
            <a:avLst/>
          </a:prstGeom>
          <a:solidFill>
            <a:schemeClr val="accent4"/>
          </a:solidFill>
          <a:ln w="12700">
            <a:solidFill>
              <a:schemeClr val="accent4"/>
            </a:solidFill>
            <a:prstDash val="solid"/>
          </a:ln>
        </p:spPr>
      </p:sp>
      <p:pic>
        <p:nvPicPr>
          <p:cNvPr id="15" name="3  AST validator icon" descr="3  AST validator">    </p:cNvPr>
          <p:cNvPicPr>
            <a:picLocks noChangeAspect="1"/>
          </p:cNvPicPr>
          <p:nvPr/>
        </p:nvPicPr>
        <p:blipFill>
          <a:blip r:embed="rId3"/>
          <a:stretch>
            <a:fillRect/>
          </a:stretch>
        </p:blipFill>
        <p:spPr>
          <a:xfrm>
            <a:off x="955548" y="3589020"/>
            <a:ext cx="329184" cy="329184"/>
          </a:xfrm>
          <a:prstGeom prst="rect">
            <a:avLst/>
          </a:prstGeom>
        </p:spPr>
      </p:pic>
      <p:sp>
        <p:nvSpPr>
          <p:cNvPr id="16" name="Text 11"/>
          <p:cNvSpPr txBox="1"/>
          <p:nvPr/>
        </p:nvSpPr>
        <p:spPr>
          <a:xfrm>
            <a:off x="1645920" y="3227832"/>
            <a:ext cx="4114800" cy="365760"/>
          </a:xfrm>
          <a:prstGeom prst="rect">
            <a:avLst/>
          </a:prstGeom>
          <a:noFill/>
          <a:ln/>
        </p:spPr>
        <p:txBody>
          <a:bodyPr wrap="square" lIns="0" tIns="0" rIns="0" bIns="0" rtlCol="0" anchor="ctr"/>
          <a:lstStyle/>
          <a:p>
            <a:pPr indent="0" marL="0">
              <a:buNone/>
            </a:pPr>
            <a:r>
              <a:rPr lang="en-US" sz="1800" b="1" dirty="0">
                <a:solidFill>
                  <a:schemeClr val="tx1"/>
                </a:solidFill>
              </a:rPr>
              <a:t>3  AST validator</a:t>
            </a:r>
            <a:endParaRPr lang="en-US" sz="1800" dirty="0"/>
          </a:p>
        </p:txBody>
      </p:sp>
      <p:sp>
        <p:nvSpPr>
          <p:cNvPr id="17" name="Text 12"/>
          <p:cNvSpPr txBox="1"/>
          <p:nvPr/>
        </p:nvSpPr>
        <p:spPr>
          <a:xfrm>
            <a:off x="1645920" y="3630168"/>
            <a:ext cx="4114800" cy="731520"/>
          </a:xfrm>
          <a:prstGeom prst="rect">
            <a:avLst/>
          </a:prstGeom>
          <a:noFill/>
          <a:ln/>
        </p:spPr>
        <p:txBody>
          <a:bodyPr wrap="square" lIns="0" tIns="0" rIns="0" bIns="0" rtlCol="0" anchor="t"/>
          <a:lstStyle/>
          <a:p>
            <a:pPr indent="0" marL="0">
              <a:buNone/>
            </a:pPr>
            <a:r>
              <a:rPr lang="en-US" sz="1400" dirty="0">
                <a:solidFill>
                  <a:schemeClr val="tx2"/>
                </a:solidFill>
              </a:rPr>
              <a:t>Reads the SQL as a syntax tree: blocks DROP, DELETE, UPDATE, stacked queries and unknown tables.</a:t>
            </a:r>
            <a:endParaRPr lang="en-US" sz="1400" dirty="0"/>
          </a:p>
        </p:txBody>
      </p:sp>
      <p:sp>
        <p:nvSpPr>
          <p:cNvPr id="18" name="Layer 4"/>
          <p:cNvSpPr/>
          <p:nvPr/>
        </p:nvSpPr>
        <p:spPr>
          <a:xfrm>
            <a:off x="6217920" y="3063240"/>
            <a:ext cx="5394960" cy="1371600"/>
          </a:xfrm>
          <a:prstGeom prst="roundRect">
            <a:avLst>
              <a:gd name="adj" fmla="val 8000"/>
            </a:avLst>
          </a:prstGeom>
          <a:solidFill>
            <a:schemeClr val="bg2"/>
          </a:solidFill>
          <a:ln w="12700">
            <a:solidFill>
              <a:schemeClr val="bg2"/>
            </a:solidFill>
            <a:prstDash val="solid"/>
          </a:ln>
        </p:spPr>
      </p:sp>
      <p:sp>
        <p:nvSpPr>
          <p:cNvPr id="19" name="4  Read-only database circle"/>
          <p:cNvSpPr/>
          <p:nvPr/>
        </p:nvSpPr>
        <p:spPr>
          <a:xfrm>
            <a:off x="6446520" y="3410712"/>
            <a:ext cx="685800" cy="685800"/>
          </a:xfrm>
          <a:prstGeom prst="ellipse">
            <a:avLst/>
          </a:prstGeom>
          <a:solidFill>
            <a:schemeClr val="accent1"/>
          </a:solidFill>
          <a:ln w="12700">
            <a:solidFill>
              <a:schemeClr val="accent1"/>
            </a:solidFill>
            <a:prstDash val="solid"/>
          </a:ln>
        </p:spPr>
      </p:sp>
      <p:pic>
        <p:nvPicPr>
          <p:cNvPr id="20" name="4  Read-only database icon" descr="4  Read-only database">    </p:cNvPr>
          <p:cNvPicPr>
            <a:picLocks noChangeAspect="1"/>
          </p:cNvPicPr>
          <p:nvPr/>
        </p:nvPicPr>
        <p:blipFill>
          <a:blip r:embed="rId4"/>
          <a:stretch>
            <a:fillRect/>
          </a:stretch>
        </p:blipFill>
        <p:spPr>
          <a:xfrm>
            <a:off x="6624828" y="3589020"/>
            <a:ext cx="329184" cy="329184"/>
          </a:xfrm>
          <a:prstGeom prst="rect">
            <a:avLst/>
          </a:prstGeom>
        </p:spPr>
      </p:pic>
      <p:sp>
        <p:nvSpPr>
          <p:cNvPr id="21" name="Text 15"/>
          <p:cNvSpPr txBox="1"/>
          <p:nvPr/>
        </p:nvSpPr>
        <p:spPr>
          <a:xfrm>
            <a:off x="7315200" y="3227832"/>
            <a:ext cx="4114800" cy="365760"/>
          </a:xfrm>
          <a:prstGeom prst="rect">
            <a:avLst/>
          </a:prstGeom>
          <a:noFill/>
          <a:ln/>
        </p:spPr>
        <p:txBody>
          <a:bodyPr wrap="square" lIns="0" tIns="0" rIns="0" bIns="0" rtlCol="0" anchor="ctr"/>
          <a:lstStyle/>
          <a:p>
            <a:pPr indent="0" marL="0">
              <a:buNone/>
            </a:pPr>
            <a:r>
              <a:rPr lang="en-US" sz="1800" b="1" dirty="0">
                <a:solidFill>
                  <a:schemeClr val="tx1"/>
                </a:solidFill>
              </a:rPr>
              <a:t>4  Read-only database</a:t>
            </a:r>
            <a:endParaRPr lang="en-US" sz="1800" dirty="0"/>
          </a:p>
        </p:txBody>
      </p:sp>
      <p:sp>
        <p:nvSpPr>
          <p:cNvPr id="22" name="Text 16"/>
          <p:cNvSpPr txBox="1"/>
          <p:nvPr/>
        </p:nvSpPr>
        <p:spPr>
          <a:xfrm>
            <a:off x="7315200" y="3630168"/>
            <a:ext cx="4114800" cy="731520"/>
          </a:xfrm>
          <a:prstGeom prst="rect">
            <a:avLst/>
          </a:prstGeom>
          <a:noFill/>
          <a:ln/>
        </p:spPr>
        <p:txBody>
          <a:bodyPr wrap="square" lIns="0" tIns="0" rIns="0" bIns="0" rtlCol="0" anchor="t"/>
          <a:lstStyle/>
          <a:p>
            <a:pPr indent="0" marL="0">
              <a:buNone/>
            </a:pPr>
            <a:r>
              <a:rPr lang="en-US" sz="1400" dirty="0">
                <a:solidFill>
                  <a:schemeClr val="tx2"/>
                </a:solidFill>
              </a:rPr>
              <a:t>Writes fail at the database itself, even if every other layer were bypassed.</a:t>
            </a:r>
            <a:endParaRPr lang="en-US" sz="1400" dirty="0"/>
          </a:p>
        </p:txBody>
      </p:sp>
      <p:sp>
        <p:nvSpPr>
          <p:cNvPr id="23" name="Layer 5"/>
          <p:cNvSpPr/>
          <p:nvPr/>
        </p:nvSpPr>
        <p:spPr>
          <a:xfrm>
            <a:off x="548640" y="4617720"/>
            <a:ext cx="5394960" cy="1371600"/>
          </a:xfrm>
          <a:prstGeom prst="roundRect">
            <a:avLst>
              <a:gd name="adj" fmla="val 8000"/>
            </a:avLst>
          </a:prstGeom>
          <a:solidFill>
            <a:schemeClr val="bg2"/>
          </a:solidFill>
          <a:ln w="12700">
            <a:solidFill>
              <a:schemeClr val="bg2"/>
            </a:solidFill>
            <a:prstDash val="solid"/>
          </a:ln>
        </p:spPr>
      </p:sp>
      <p:sp>
        <p:nvSpPr>
          <p:cNvPr id="24" name="5  Sensitive columns hidden circle"/>
          <p:cNvSpPr/>
          <p:nvPr/>
        </p:nvSpPr>
        <p:spPr>
          <a:xfrm>
            <a:off x="777240" y="4965192"/>
            <a:ext cx="685800" cy="685800"/>
          </a:xfrm>
          <a:prstGeom prst="ellipse">
            <a:avLst/>
          </a:prstGeom>
          <a:solidFill>
            <a:schemeClr val="accent2"/>
          </a:solidFill>
          <a:ln w="12700">
            <a:solidFill>
              <a:schemeClr val="accent2"/>
            </a:solidFill>
            <a:prstDash val="solid"/>
          </a:ln>
        </p:spPr>
      </p:sp>
      <p:pic>
        <p:nvPicPr>
          <p:cNvPr id="25" name="5  Sensitive columns hidden icon" descr="5  Sensitive columns hidden">    </p:cNvPr>
          <p:cNvPicPr>
            <a:picLocks noChangeAspect="1"/>
          </p:cNvPicPr>
          <p:nvPr/>
        </p:nvPicPr>
        <p:blipFill>
          <a:blip r:embed="rId5"/>
          <a:stretch>
            <a:fillRect/>
          </a:stretch>
        </p:blipFill>
        <p:spPr>
          <a:xfrm>
            <a:off x="955548" y="5143500"/>
            <a:ext cx="329184" cy="329184"/>
          </a:xfrm>
          <a:prstGeom prst="rect">
            <a:avLst/>
          </a:prstGeom>
        </p:spPr>
      </p:pic>
      <p:sp>
        <p:nvSpPr>
          <p:cNvPr id="26" name="Text 19"/>
          <p:cNvSpPr txBox="1"/>
          <p:nvPr/>
        </p:nvSpPr>
        <p:spPr>
          <a:xfrm>
            <a:off x="1645920" y="4782312"/>
            <a:ext cx="4114800" cy="365760"/>
          </a:xfrm>
          <a:prstGeom prst="rect">
            <a:avLst/>
          </a:prstGeom>
          <a:noFill/>
          <a:ln/>
        </p:spPr>
        <p:txBody>
          <a:bodyPr wrap="square" lIns="0" tIns="0" rIns="0" bIns="0" rtlCol="0" anchor="ctr"/>
          <a:lstStyle/>
          <a:p>
            <a:pPr indent="0" marL="0">
              <a:buNone/>
            </a:pPr>
            <a:r>
              <a:rPr lang="en-US" sz="1800" b="1" dirty="0">
                <a:solidFill>
                  <a:schemeClr val="tx1"/>
                </a:solidFill>
              </a:rPr>
              <a:t>5  Sensitive columns hidden</a:t>
            </a:r>
            <a:endParaRPr lang="en-US" sz="1800" dirty="0"/>
          </a:p>
        </p:txBody>
      </p:sp>
      <p:sp>
        <p:nvSpPr>
          <p:cNvPr id="27" name="Text 20"/>
          <p:cNvSpPr txBox="1"/>
          <p:nvPr/>
        </p:nvSpPr>
        <p:spPr>
          <a:xfrm>
            <a:off x="1645920" y="5184648"/>
            <a:ext cx="4114800" cy="731520"/>
          </a:xfrm>
          <a:prstGeom prst="rect">
            <a:avLst/>
          </a:prstGeom>
          <a:noFill/>
          <a:ln/>
        </p:spPr>
        <p:txBody>
          <a:bodyPr wrap="square" lIns="0" tIns="0" rIns="0" bIns="0" rtlCol="0" anchor="t"/>
          <a:lstStyle/>
          <a:p>
            <a:pPr indent="0" marL="0">
              <a:buNone/>
            </a:pPr>
            <a:r>
              <a:rPr lang="en-US" sz="1400" dirty="0">
                <a:solidFill>
                  <a:schemeClr val="tx2"/>
                </a:solidFill>
              </a:rPr>
              <a:t>Never in prompts, results or SQL, even through SELECT *.</a:t>
            </a:r>
            <a:endParaRPr lang="en-US" sz="1400" dirty="0"/>
          </a:p>
        </p:txBody>
      </p:sp>
      <p:sp>
        <p:nvSpPr>
          <p:cNvPr id="28" name="Layer 6"/>
          <p:cNvSpPr/>
          <p:nvPr/>
        </p:nvSpPr>
        <p:spPr>
          <a:xfrm>
            <a:off x="6217920" y="4617720"/>
            <a:ext cx="5394960" cy="1371600"/>
          </a:xfrm>
          <a:prstGeom prst="roundRect">
            <a:avLst>
              <a:gd name="adj" fmla="val 8000"/>
            </a:avLst>
          </a:prstGeom>
          <a:solidFill>
            <a:schemeClr val="bg2"/>
          </a:solidFill>
          <a:ln w="12700">
            <a:solidFill>
              <a:schemeClr val="bg2"/>
            </a:solidFill>
            <a:prstDash val="solid"/>
          </a:ln>
        </p:spPr>
      </p:sp>
      <p:sp>
        <p:nvSpPr>
          <p:cNvPr id="29" name="6  Limits and access circle"/>
          <p:cNvSpPr/>
          <p:nvPr/>
        </p:nvSpPr>
        <p:spPr>
          <a:xfrm>
            <a:off x="6446520" y="4965192"/>
            <a:ext cx="685800" cy="685800"/>
          </a:xfrm>
          <a:prstGeom prst="ellipse">
            <a:avLst/>
          </a:prstGeom>
          <a:solidFill>
            <a:schemeClr val="accent5"/>
          </a:solidFill>
          <a:ln w="12700">
            <a:solidFill>
              <a:schemeClr val="accent5"/>
            </a:solidFill>
            <a:prstDash val="solid"/>
          </a:ln>
        </p:spPr>
      </p:sp>
      <p:pic>
        <p:nvPicPr>
          <p:cNvPr id="30" name="6  Limits and access icon" descr="6  Limits and access">    </p:cNvPr>
          <p:cNvPicPr>
            <a:picLocks noChangeAspect="1"/>
          </p:cNvPicPr>
          <p:nvPr/>
        </p:nvPicPr>
        <p:blipFill>
          <a:blip r:embed="rId6"/>
          <a:stretch>
            <a:fillRect/>
          </a:stretch>
        </p:blipFill>
        <p:spPr>
          <a:xfrm>
            <a:off x="6624828" y="5143500"/>
            <a:ext cx="329184" cy="329184"/>
          </a:xfrm>
          <a:prstGeom prst="rect">
            <a:avLst/>
          </a:prstGeom>
        </p:spPr>
      </p:pic>
      <p:sp>
        <p:nvSpPr>
          <p:cNvPr id="31" name="Text 23"/>
          <p:cNvSpPr txBox="1"/>
          <p:nvPr/>
        </p:nvSpPr>
        <p:spPr>
          <a:xfrm>
            <a:off x="7315200" y="4782312"/>
            <a:ext cx="4114800" cy="365760"/>
          </a:xfrm>
          <a:prstGeom prst="rect">
            <a:avLst/>
          </a:prstGeom>
          <a:noFill/>
          <a:ln/>
        </p:spPr>
        <p:txBody>
          <a:bodyPr wrap="square" lIns="0" tIns="0" rIns="0" bIns="0" rtlCol="0" anchor="ctr"/>
          <a:lstStyle/>
          <a:p>
            <a:pPr indent="0" marL="0">
              <a:buNone/>
            </a:pPr>
            <a:r>
              <a:rPr lang="en-US" sz="1800" b="1" dirty="0">
                <a:solidFill>
                  <a:schemeClr val="tx1"/>
                </a:solidFill>
              </a:rPr>
              <a:t>6  Limits and access</a:t>
            </a:r>
            <a:endParaRPr lang="en-US" sz="1800" dirty="0"/>
          </a:p>
        </p:txBody>
      </p:sp>
      <p:sp>
        <p:nvSpPr>
          <p:cNvPr id="32" name="Text 24"/>
          <p:cNvSpPr txBox="1"/>
          <p:nvPr/>
        </p:nvSpPr>
        <p:spPr>
          <a:xfrm>
            <a:off x="7315200" y="5184648"/>
            <a:ext cx="4114800" cy="731520"/>
          </a:xfrm>
          <a:prstGeom prst="rect">
            <a:avLst/>
          </a:prstGeom>
          <a:noFill/>
          <a:ln/>
        </p:spPr>
        <p:txBody>
          <a:bodyPr wrap="square" lIns="0" tIns="0" rIns="0" bIns="0" rtlCol="0" anchor="t"/>
          <a:lstStyle/>
          <a:p>
            <a:pPr indent="0" marL="0">
              <a:buNone/>
            </a:pPr>
            <a:r>
              <a:rPr lang="en-US" sz="1400" dirty="0">
                <a:solidFill>
                  <a:schemeClr val="tx2"/>
                </a:solidFill>
              </a:rPr>
              <a:t>Row limit, query timeout, rate limit, daily cap, admin token.</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Six admin panels for data engineers</a:t>
            </a:r>
            <a:endParaRPr lang="en-US" sz="3600" dirty="0"/>
          </a:p>
        </p:txBody>
      </p:sp>
      <p:sp>
        <p:nvSpPr>
          <p:cNvPr id="3" name="Panel Schema Manager"/>
          <p:cNvSpPr/>
          <p:nvPr/>
        </p:nvSpPr>
        <p:spPr>
          <a:xfrm>
            <a:off x="548640" y="1508760"/>
            <a:ext cx="3566160" cy="2286000"/>
          </a:xfrm>
          <a:prstGeom prst="roundRect">
            <a:avLst>
              <a:gd name="adj" fmla="val 4800"/>
            </a:avLst>
          </a:prstGeom>
          <a:solidFill>
            <a:schemeClr val="bg2"/>
          </a:solidFill>
          <a:ln w="12700">
            <a:solidFill>
              <a:schemeClr val="bg2"/>
            </a:solidFill>
            <a:prstDash val="solid"/>
          </a:ln>
        </p:spPr>
      </p:sp>
      <p:sp>
        <p:nvSpPr>
          <p:cNvPr id="4" name="Schema Manager circle"/>
          <p:cNvSpPr/>
          <p:nvPr/>
        </p:nvSpPr>
        <p:spPr>
          <a:xfrm>
            <a:off x="822960" y="1783080"/>
            <a:ext cx="640080" cy="640080"/>
          </a:xfrm>
          <a:prstGeom prst="ellipse">
            <a:avLst/>
          </a:prstGeom>
          <a:solidFill>
            <a:schemeClr val="accent1"/>
          </a:solidFill>
          <a:ln w="12700">
            <a:solidFill>
              <a:schemeClr val="accent1"/>
            </a:solidFill>
            <a:prstDash val="solid"/>
          </a:ln>
        </p:spPr>
      </p:sp>
      <p:pic>
        <p:nvPicPr>
          <p:cNvPr id="5" name="Schema Manager icon" descr="Schema Manager">    </p:cNvPr>
          <p:cNvPicPr>
            <a:picLocks noChangeAspect="1"/>
          </p:cNvPicPr>
          <p:nvPr/>
        </p:nvPicPr>
        <p:blipFill>
          <a:blip r:embed="rId1"/>
          <a:stretch>
            <a:fillRect/>
          </a:stretch>
        </p:blipFill>
        <p:spPr>
          <a:xfrm>
            <a:off x="989381" y="1949501"/>
            <a:ext cx="307238" cy="307238"/>
          </a:xfrm>
          <a:prstGeom prst="rect">
            <a:avLst/>
          </a:prstGeom>
        </p:spPr>
      </p:pic>
      <p:sp>
        <p:nvSpPr>
          <p:cNvPr id="6" name="Text 3"/>
          <p:cNvSpPr txBox="1"/>
          <p:nvPr/>
        </p:nvSpPr>
        <p:spPr>
          <a:xfrm>
            <a:off x="822960" y="2532888"/>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Schema Manager</a:t>
            </a:r>
            <a:endParaRPr lang="en-US" sz="1800" dirty="0"/>
          </a:p>
        </p:txBody>
      </p:sp>
      <p:sp>
        <p:nvSpPr>
          <p:cNvPr id="7" name="Text 4"/>
          <p:cNvSpPr txBox="1"/>
          <p:nvPr/>
        </p:nvSpPr>
        <p:spPr>
          <a:xfrm>
            <a:off x="822960" y="2926080"/>
            <a:ext cx="3017520" cy="777240"/>
          </a:xfrm>
          <a:prstGeom prst="rect">
            <a:avLst/>
          </a:prstGeom>
          <a:noFill/>
          <a:ln/>
        </p:spPr>
        <p:txBody>
          <a:bodyPr wrap="square" lIns="0" tIns="0" rIns="0" bIns="0" rtlCol="0" anchor="t"/>
          <a:lstStyle/>
          <a:p>
            <a:pPr indent="0" marL="0">
              <a:buNone/>
            </a:pPr>
            <a:r>
              <a:rPr lang="en-US" sz="1400" dirty="0">
                <a:solidFill>
                  <a:schemeClr val="tx2"/>
                </a:solidFill>
              </a:rPr>
              <a:t>Describe tables and columns in business terms, and flag sensitive columns.</a:t>
            </a:r>
            <a:endParaRPr lang="en-US" sz="1400" dirty="0"/>
          </a:p>
        </p:txBody>
      </p:sp>
      <p:sp>
        <p:nvSpPr>
          <p:cNvPr id="8" name="Panel Tables (CSV import)"/>
          <p:cNvSpPr/>
          <p:nvPr/>
        </p:nvSpPr>
        <p:spPr>
          <a:xfrm>
            <a:off x="4297680" y="1508760"/>
            <a:ext cx="3566160" cy="2286000"/>
          </a:xfrm>
          <a:prstGeom prst="roundRect">
            <a:avLst>
              <a:gd name="adj" fmla="val 4800"/>
            </a:avLst>
          </a:prstGeom>
          <a:solidFill>
            <a:schemeClr val="bg2"/>
          </a:solidFill>
          <a:ln w="12700">
            <a:solidFill>
              <a:schemeClr val="bg2"/>
            </a:solidFill>
            <a:prstDash val="solid"/>
          </a:ln>
        </p:spPr>
      </p:sp>
      <p:sp>
        <p:nvSpPr>
          <p:cNvPr id="9" name="Tables (CSV import) circle"/>
          <p:cNvSpPr/>
          <p:nvPr/>
        </p:nvSpPr>
        <p:spPr>
          <a:xfrm>
            <a:off x="4572000" y="1783080"/>
            <a:ext cx="640080" cy="640080"/>
          </a:xfrm>
          <a:prstGeom prst="ellipse">
            <a:avLst/>
          </a:prstGeom>
          <a:solidFill>
            <a:schemeClr val="accent2"/>
          </a:solidFill>
          <a:ln w="12700">
            <a:solidFill>
              <a:schemeClr val="accent2"/>
            </a:solidFill>
            <a:prstDash val="solid"/>
          </a:ln>
        </p:spPr>
      </p:sp>
      <p:pic>
        <p:nvPicPr>
          <p:cNvPr id="10" name="Tables (CSV import) icon" descr="Tables (CSV import)">    </p:cNvPr>
          <p:cNvPicPr>
            <a:picLocks noChangeAspect="1"/>
          </p:cNvPicPr>
          <p:nvPr/>
        </p:nvPicPr>
        <p:blipFill>
          <a:blip r:embed="rId2"/>
          <a:stretch>
            <a:fillRect/>
          </a:stretch>
        </p:blipFill>
        <p:spPr>
          <a:xfrm>
            <a:off x="4738421" y="1949501"/>
            <a:ext cx="307238" cy="307238"/>
          </a:xfrm>
          <a:prstGeom prst="rect">
            <a:avLst/>
          </a:prstGeom>
        </p:spPr>
      </p:pic>
      <p:sp>
        <p:nvSpPr>
          <p:cNvPr id="11" name="Text 7"/>
          <p:cNvSpPr txBox="1"/>
          <p:nvPr/>
        </p:nvSpPr>
        <p:spPr>
          <a:xfrm>
            <a:off x="4572000" y="2532888"/>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Tables (CSV import)</a:t>
            </a:r>
            <a:endParaRPr lang="en-US" sz="1800" dirty="0"/>
          </a:p>
        </p:txBody>
      </p:sp>
      <p:sp>
        <p:nvSpPr>
          <p:cNvPr id="12" name="Text 8"/>
          <p:cNvSpPr txBox="1"/>
          <p:nvPr/>
        </p:nvSpPr>
        <p:spPr>
          <a:xfrm>
            <a:off x="4572000" y="2926080"/>
            <a:ext cx="3017520" cy="777240"/>
          </a:xfrm>
          <a:prstGeom prst="rect">
            <a:avLst/>
          </a:prstGeom>
          <a:noFill/>
          <a:ln/>
        </p:spPr>
        <p:txBody>
          <a:bodyPr wrap="square" lIns="0" tIns="0" rIns="0" bIns="0" rtlCol="0" anchor="t"/>
          <a:lstStyle/>
          <a:p>
            <a:pPr indent="0" marL="0">
              <a:buNone/>
            </a:pPr>
            <a:r>
              <a:rPr lang="en-US" sz="1400" dirty="0">
                <a:solidFill>
                  <a:schemeClr val="tx2"/>
                </a:solidFill>
              </a:rPr>
              <a:t>Upload a CSV, review detected types, import. Queryable immediately.</a:t>
            </a:r>
            <a:endParaRPr lang="en-US" sz="1400" dirty="0"/>
          </a:p>
        </p:txBody>
      </p:sp>
      <p:sp>
        <p:nvSpPr>
          <p:cNvPr id="13" name="Panel Examples"/>
          <p:cNvSpPr/>
          <p:nvPr/>
        </p:nvSpPr>
        <p:spPr>
          <a:xfrm>
            <a:off x="8046720" y="1508760"/>
            <a:ext cx="3566160" cy="2286000"/>
          </a:xfrm>
          <a:prstGeom prst="roundRect">
            <a:avLst>
              <a:gd name="adj" fmla="val 4800"/>
            </a:avLst>
          </a:prstGeom>
          <a:solidFill>
            <a:schemeClr val="bg2"/>
          </a:solidFill>
          <a:ln w="12700">
            <a:solidFill>
              <a:schemeClr val="bg2"/>
            </a:solidFill>
            <a:prstDash val="solid"/>
          </a:ln>
        </p:spPr>
      </p:sp>
      <p:sp>
        <p:nvSpPr>
          <p:cNvPr id="14" name="Examples circle"/>
          <p:cNvSpPr/>
          <p:nvPr/>
        </p:nvSpPr>
        <p:spPr>
          <a:xfrm>
            <a:off x="8321040" y="1783080"/>
            <a:ext cx="640080" cy="640080"/>
          </a:xfrm>
          <a:prstGeom prst="ellipse">
            <a:avLst/>
          </a:prstGeom>
          <a:solidFill>
            <a:schemeClr val="accent6"/>
          </a:solidFill>
          <a:ln w="12700">
            <a:solidFill>
              <a:schemeClr val="accent6"/>
            </a:solidFill>
            <a:prstDash val="solid"/>
          </a:ln>
        </p:spPr>
      </p:sp>
      <p:pic>
        <p:nvPicPr>
          <p:cNvPr id="15" name="Examples icon" descr="Examples">    </p:cNvPr>
          <p:cNvPicPr>
            <a:picLocks noChangeAspect="1"/>
          </p:cNvPicPr>
          <p:nvPr/>
        </p:nvPicPr>
        <p:blipFill>
          <a:blip r:embed="rId3"/>
          <a:stretch>
            <a:fillRect/>
          </a:stretch>
        </p:blipFill>
        <p:spPr>
          <a:xfrm>
            <a:off x="8487461" y="1949501"/>
            <a:ext cx="307238" cy="307238"/>
          </a:xfrm>
          <a:prstGeom prst="rect">
            <a:avLst/>
          </a:prstGeom>
        </p:spPr>
      </p:pic>
      <p:sp>
        <p:nvSpPr>
          <p:cNvPr id="16" name="Text 11"/>
          <p:cNvSpPr txBox="1"/>
          <p:nvPr/>
        </p:nvSpPr>
        <p:spPr>
          <a:xfrm>
            <a:off x="8321040" y="2532888"/>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Examples</a:t>
            </a:r>
            <a:endParaRPr lang="en-US" sz="1800" dirty="0"/>
          </a:p>
        </p:txBody>
      </p:sp>
      <p:sp>
        <p:nvSpPr>
          <p:cNvPr id="17" name="Text 12"/>
          <p:cNvSpPr txBox="1"/>
          <p:nvPr/>
        </p:nvSpPr>
        <p:spPr>
          <a:xfrm>
            <a:off x="8321040" y="2926080"/>
            <a:ext cx="3017520" cy="777240"/>
          </a:xfrm>
          <a:prstGeom prst="rect">
            <a:avLst/>
          </a:prstGeom>
          <a:noFill/>
          <a:ln/>
        </p:spPr>
        <p:txBody>
          <a:bodyPr wrap="square" lIns="0" tIns="0" rIns="0" bIns="0" rtlCol="0" anchor="t"/>
          <a:lstStyle/>
          <a:p>
            <a:pPr indent="0" marL="0">
              <a:buNone/>
            </a:pPr>
            <a:r>
              <a:rPr lang="en-US" sz="1400" dirty="0">
                <a:solidFill>
                  <a:schemeClr val="tx2"/>
                </a:solidFill>
              </a:rPr>
              <a:t>Curate question and SQL pairs. Semantic search; the vector index stays in sync.</a:t>
            </a:r>
            <a:endParaRPr lang="en-US" sz="1400" dirty="0"/>
          </a:p>
        </p:txBody>
      </p:sp>
      <p:sp>
        <p:nvSpPr>
          <p:cNvPr id="18" name="Panel Query Logs"/>
          <p:cNvSpPr/>
          <p:nvPr/>
        </p:nvSpPr>
        <p:spPr>
          <a:xfrm>
            <a:off x="548640" y="4023360"/>
            <a:ext cx="3566160" cy="2286000"/>
          </a:xfrm>
          <a:prstGeom prst="roundRect">
            <a:avLst>
              <a:gd name="adj" fmla="val 4800"/>
            </a:avLst>
          </a:prstGeom>
          <a:solidFill>
            <a:schemeClr val="bg2"/>
          </a:solidFill>
          <a:ln w="12700">
            <a:solidFill>
              <a:schemeClr val="bg2"/>
            </a:solidFill>
            <a:prstDash val="solid"/>
          </a:ln>
        </p:spPr>
      </p:sp>
      <p:sp>
        <p:nvSpPr>
          <p:cNvPr id="19" name="Query Logs circle"/>
          <p:cNvSpPr/>
          <p:nvPr/>
        </p:nvSpPr>
        <p:spPr>
          <a:xfrm>
            <a:off x="822960" y="4297680"/>
            <a:ext cx="640080" cy="640080"/>
          </a:xfrm>
          <a:prstGeom prst="ellipse">
            <a:avLst/>
          </a:prstGeom>
          <a:solidFill>
            <a:schemeClr val="accent5"/>
          </a:solidFill>
          <a:ln w="12700">
            <a:solidFill>
              <a:schemeClr val="accent5"/>
            </a:solidFill>
            <a:prstDash val="solid"/>
          </a:ln>
        </p:spPr>
      </p:sp>
      <p:pic>
        <p:nvPicPr>
          <p:cNvPr id="20" name="Query Logs icon" descr="Query Logs">    </p:cNvPr>
          <p:cNvPicPr>
            <a:picLocks noChangeAspect="1"/>
          </p:cNvPicPr>
          <p:nvPr/>
        </p:nvPicPr>
        <p:blipFill>
          <a:blip r:embed="rId4"/>
          <a:stretch>
            <a:fillRect/>
          </a:stretch>
        </p:blipFill>
        <p:spPr>
          <a:xfrm>
            <a:off x="989381" y="4464101"/>
            <a:ext cx="307238" cy="307238"/>
          </a:xfrm>
          <a:prstGeom prst="rect">
            <a:avLst/>
          </a:prstGeom>
        </p:spPr>
      </p:pic>
      <p:sp>
        <p:nvSpPr>
          <p:cNvPr id="21" name="Text 15"/>
          <p:cNvSpPr txBox="1"/>
          <p:nvPr/>
        </p:nvSpPr>
        <p:spPr>
          <a:xfrm>
            <a:off x="822960" y="5047488"/>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Query Logs</a:t>
            </a:r>
            <a:endParaRPr lang="en-US" sz="1800" dirty="0"/>
          </a:p>
        </p:txBody>
      </p:sp>
      <p:sp>
        <p:nvSpPr>
          <p:cNvPr id="22" name="Text 16"/>
          <p:cNvSpPr txBox="1"/>
          <p:nvPr/>
        </p:nvSpPr>
        <p:spPr>
          <a:xfrm>
            <a:off x="822960" y="5440680"/>
            <a:ext cx="3017520" cy="777240"/>
          </a:xfrm>
          <a:prstGeom prst="rect">
            <a:avLst/>
          </a:prstGeom>
          <a:noFill/>
          <a:ln/>
        </p:spPr>
        <p:txBody>
          <a:bodyPr wrap="square" lIns="0" tIns="0" rIns="0" bIns="0" rtlCol="0" anchor="t"/>
          <a:lstStyle/>
          <a:p>
            <a:pPr indent="0" marL="0">
              <a:buNone/>
            </a:pPr>
            <a:r>
              <a:rPr lang="en-US" sz="1400" dirty="0">
                <a:solidFill>
                  <a:schemeClr val="tx2"/>
                </a:solidFill>
              </a:rPr>
              <a:t>Every question with its SQL, status, latency and rows. Filter and export CSV.</a:t>
            </a:r>
            <a:endParaRPr lang="en-US" sz="1400" dirty="0"/>
          </a:p>
        </p:txBody>
      </p:sp>
      <p:sp>
        <p:nvSpPr>
          <p:cNvPr id="23" name="Panel Guardrails"/>
          <p:cNvSpPr/>
          <p:nvPr/>
        </p:nvSpPr>
        <p:spPr>
          <a:xfrm>
            <a:off x="4297680" y="4023360"/>
            <a:ext cx="3566160" cy="2286000"/>
          </a:xfrm>
          <a:prstGeom prst="roundRect">
            <a:avLst>
              <a:gd name="adj" fmla="val 4800"/>
            </a:avLst>
          </a:prstGeom>
          <a:solidFill>
            <a:schemeClr val="bg2"/>
          </a:solidFill>
          <a:ln w="12700">
            <a:solidFill>
              <a:schemeClr val="bg2"/>
            </a:solidFill>
            <a:prstDash val="solid"/>
          </a:ln>
        </p:spPr>
      </p:sp>
      <p:sp>
        <p:nvSpPr>
          <p:cNvPr id="24" name="Guardrails circle"/>
          <p:cNvSpPr/>
          <p:nvPr/>
        </p:nvSpPr>
        <p:spPr>
          <a:xfrm>
            <a:off x="4572000" y="4297680"/>
            <a:ext cx="640080" cy="640080"/>
          </a:xfrm>
          <a:prstGeom prst="ellipse">
            <a:avLst/>
          </a:prstGeom>
          <a:solidFill>
            <a:schemeClr val="accent4"/>
          </a:solidFill>
          <a:ln w="12700">
            <a:solidFill>
              <a:schemeClr val="accent4"/>
            </a:solidFill>
            <a:prstDash val="solid"/>
          </a:ln>
        </p:spPr>
      </p:sp>
      <p:pic>
        <p:nvPicPr>
          <p:cNvPr id="25" name="Guardrails icon" descr="Guardrails">    </p:cNvPr>
          <p:cNvPicPr>
            <a:picLocks noChangeAspect="1"/>
          </p:cNvPicPr>
          <p:nvPr/>
        </p:nvPicPr>
        <p:blipFill>
          <a:blip r:embed="rId5"/>
          <a:stretch>
            <a:fillRect/>
          </a:stretch>
        </p:blipFill>
        <p:spPr>
          <a:xfrm>
            <a:off x="4738421" y="4464101"/>
            <a:ext cx="307238" cy="307238"/>
          </a:xfrm>
          <a:prstGeom prst="rect">
            <a:avLst/>
          </a:prstGeom>
        </p:spPr>
      </p:pic>
      <p:sp>
        <p:nvSpPr>
          <p:cNvPr id="26" name="Text 19"/>
          <p:cNvSpPr txBox="1"/>
          <p:nvPr/>
        </p:nvSpPr>
        <p:spPr>
          <a:xfrm>
            <a:off x="4572000" y="5047488"/>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Guardrails</a:t>
            </a:r>
            <a:endParaRPr lang="en-US" sz="1800" dirty="0"/>
          </a:p>
        </p:txBody>
      </p:sp>
      <p:sp>
        <p:nvSpPr>
          <p:cNvPr id="27" name="Text 20"/>
          <p:cNvSpPr txBox="1"/>
          <p:nvPr/>
        </p:nvSpPr>
        <p:spPr>
          <a:xfrm>
            <a:off x="4572000" y="5440680"/>
            <a:ext cx="3017520" cy="777240"/>
          </a:xfrm>
          <a:prstGeom prst="rect">
            <a:avLst/>
          </a:prstGeom>
          <a:noFill/>
          <a:ln/>
        </p:spPr>
        <p:txBody>
          <a:bodyPr wrap="square" lIns="0" tIns="0" rIns="0" bIns="0" rtlCol="0" anchor="t"/>
          <a:lstStyle/>
          <a:p>
            <a:pPr indent="0" marL="0">
              <a:buNone/>
            </a:pPr>
            <a:r>
              <a:rPr lang="en-US" sz="1400" dirty="0">
                <a:solidFill>
                  <a:schemeClr val="tx2"/>
                </a:solidFill>
              </a:rPr>
              <a:t>Allowed operations, max rows, table scope. Takes effect on the next request.</a:t>
            </a:r>
            <a:endParaRPr lang="en-US" sz="1400" dirty="0"/>
          </a:p>
        </p:txBody>
      </p:sp>
      <p:sp>
        <p:nvSpPr>
          <p:cNvPr id="28" name="Panel Model Config"/>
          <p:cNvSpPr/>
          <p:nvPr/>
        </p:nvSpPr>
        <p:spPr>
          <a:xfrm>
            <a:off x="8046720" y="4023360"/>
            <a:ext cx="3566160" cy="2286000"/>
          </a:xfrm>
          <a:prstGeom prst="roundRect">
            <a:avLst>
              <a:gd name="adj" fmla="val 4800"/>
            </a:avLst>
          </a:prstGeom>
          <a:solidFill>
            <a:schemeClr val="bg2"/>
          </a:solidFill>
          <a:ln w="12700">
            <a:solidFill>
              <a:schemeClr val="bg2"/>
            </a:solidFill>
            <a:prstDash val="solid"/>
          </a:ln>
        </p:spPr>
      </p:sp>
      <p:sp>
        <p:nvSpPr>
          <p:cNvPr id="29" name="Model Config circle"/>
          <p:cNvSpPr/>
          <p:nvPr/>
        </p:nvSpPr>
        <p:spPr>
          <a:xfrm>
            <a:off x="8321040" y="4297680"/>
            <a:ext cx="640080" cy="640080"/>
          </a:xfrm>
          <a:prstGeom prst="ellipse">
            <a:avLst/>
          </a:prstGeom>
          <a:solidFill>
            <a:schemeClr val="accent3"/>
          </a:solidFill>
          <a:ln w="12700">
            <a:solidFill>
              <a:schemeClr val="accent3"/>
            </a:solidFill>
            <a:prstDash val="solid"/>
          </a:ln>
        </p:spPr>
      </p:sp>
      <p:pic>
        <p:nvPicPr>
          <p:cNvPr id="30" name="Model Config icon" descr="Model Config">    </p:cNvPr>
          <p:cNvPicPr>
            <a:picLocks noChangeAspect="1"/>
          </p:cNvPicPr>
          <p:nvPr/>
        </p:nvPicPr>
        <p:blipFill>
          <a:blip r:embed="rId6"/>
          <a:stretch>
            <a:fillRect/>
          </a:stretch>
        </p:blipFill>
        <p:spPr>
          <a:xfrm>
            <a:off x="8487461" y="4464101"/>
            <a:ext cx="307238" cy="307238"/>
          </a:xfrm>
          <a:prstGeom prst="rect">
            <a:avLst/>
          </a:prstGeom>
        </p:spPr>
      </p:pic>
      <p:sp>
        <p:nvSpPr>
          <p:cNvPr id="31" name="Text 23"/>
          <p:cNvSpPr txBox="1"/>
          <p:nvPr/>
        </p:nvSpPr>
        <p:spPr>
          <a:xfrm>
            <a:off x="8321040" y="5047488"/>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Model Config</a:t>
            </a:r>
            <a:endParaRPr lang="en-US" sz="1800" dirty="0"/>
          </a:p>
        </p:txBody>
      </p:sp>
      <p:sp>
        <p:nvSpPr>
          <p:cNvPr id="32" name="Text 24"/>
          <p:cNvSpPr txBox="1"/>
          <p:nvPr/>
        </p:nvSpPr>
        <p:spPr>
          <a:xfrm>
            <a:off x="8321040" y="5440680"/>
            <a:ext cx="3017520" cy="777240"/>
          </a:xfrm>
          <a:prstGeom prst="rect">
            <a:avLst/>
          </a:prstGeom>
          <a:noFill/>
          <a:ln/>
        </p:spPr>
        <p:txBody>
          <a:bodyPr wrap="square" lIns="0" tIns="0" rIns="0" bIns="0" rtlCol="0" anchor="t"/>
          <a:lstStyle/>
          <a:p>
            <a:pPr indent="0" marL="0">
              <a:buNone/>
            </a:pPr>
            <a:r>
              <a:rPr lang="en-US" sz="1400" dirty="0">
                <a:solidFill>
                  <a:schemeClr val="tx2"/>
                </a:solidFill>
              </a:rPr>
              <a:t>Choose provider, model, dialect and token budget. No restart needed.</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Demo: five minutes, five steps</a:t>
            </a:r>
            <a:endParaRPr lang="en-US" sz="3600" dirty="0"/>
          </a:p>
        </p:txBody>
      </p:sp>
      <p:sp>
        <p:nvSpPr>
          <p:cNvPr id="3" name="Step 1"/>
          <p:cNvSpPr/>
          <p:nvPr/>
        </p:nvSpPr>
        <p:spPr>
          <a:xfrm>
            <a:off x="548640" y="1463040"/>
            <a:ext cx="11091672" cy="841248"/>
          </a:xfrm>
          <a:prstGeom prst="roundRect">
            <a:avLst>
              <a:gd name="adj" fmla="val 13043"/>
            </a:avLst>
          </a:prstGeom>
          <a:solidFill>
            <a:schemeClr val="bg2"/>
          </a:solidFill>
          <a:ln w="12700">
            <a:solidFill>
              <a:schemeClr val="bg2"/>
            </a:solidFill>
            <a:prstDash val="solid"/>
          </a:ln>
        </p:spPr>
      </p:sp>
      <p:sp>
        <p:nvSpPr>
          <p:cNvPr id="4" name="Step number 1"/>
          <p:cNvSpPr/>
          <p:nvPr/>
        </p:nvSpPr>
        <p:spPr>
          <a:xfrm>
            <a:off x="731520" y="1591056"/>
            <a:ext cx="585216" cy="585216"/>
          </a:xfrm>
          <a:prstGeom prst="ellipse">
            <a:avLst/>
          </a:prstGeom>
          <a:solidFill>
            <a:schemeClr val="accent1"/>
          </a:solidFill>
          <a:ln w="12700">
            <a:solidFill>
              <a:schemeClr val="accent1"/>
            </a:solidFill>
            <a:prstDash val="solid"/>
          </a:ln>
        </p:spPr>
      </p:sp>
      <p:sp>
        <p:nvSpPr>
          <p:cNvPr id="5" name="Text 3"/>
          <p:cNvSpPr txBox="1"/>
          <p:nvPr/>
        </p:nvSpPr>
        <p:spPr>
          <a:xfrm>
            <a:off x="731520" y="1591056"/>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 4"/>
          <p:cNvSpPr txBox="1"/>
          <p:nvPr/>
        </p:nvSpPr>
        <p:spPr>
          <a:xfrm>
            <a:off x="1554480" y="1536192"/>
            <a:ext cx="3291840" cy="694944"/>
          </a:xfrm>
          <a:prstGeom prst="rect">
            <a:avLst/>
          </a:prstGeom>
          <a:noFill/>
          <a:ln/>
        </p:spPr>
        <p:txBody>
          <a:bodyPr wrap="square" lIns="0" tIns="0" rIns="0" bIns="0" rtlCol="0" anchor="ctr"/>
          <a:lstStyle/>
          <a:p>
            <a:pPr indent="0" marL="0">
              <a:buNone/>
            </a:pPr>
            <a:r>
              <a:rPr lang="en-US" sz="1800" b="1" dirty="0">
                <a:solidFill>
                  <a:schemeClr val="tx1"/>
                </a:solidFill>
              </a:rPr>
              <a:t>Ask in plain English</a:t>
            </a:r>
            <a:endParaRPr lang="en-US" sz="1800" dirty="0"/>
          </a:p>
        </p:txBody>
      </p:sp>
      <p:sp>
        <p:nvSpPr>
          <p:cNvPr id="7" name="Text 5"/>
          <p:cNvSpPr txBox="1"/>
          <p:nvPr/>
        </p:nvSpPr>
        <p:spPr>
          <a:xfrm>
            <a:off x="4937760" y="1536192"/>
            <a:ext cx="5577840" cy="694944"/>
          </a:xfrm>
          <a:prstGeom prst="rect">
            <a:avLst/>
          </a:prstGeom>
          <a:noFill/>
          <a:ln/>
        </p:spPr>
        <p:txBody>
          <a:bodyPr wrap="square" lIns="0" tIns="0" rIns="0" bIns="0" rtlCol="0" anchor="ctr"/>
          <a:lstStyle/>
          <a:p>
            <a:pPr indent="0" marL="0">
              <a:buNone/>
            </a:pPr>
            <a:r>
              <a:rPr lang="en-US" sz="1400" dirty="0">
                <a:solidFill>
                  <a:schemeClr val="tx2"/>
                </a:solidFill>
              </a:rPr>
              <a:t>"What is the total revenue by product category?" Show the table, bar chart and summary.</a:t>
            </a:r>
            <a:endParaRPr lang="en-US" sz="1400" dirty="0"/>
          </a:p>
        </p:txBody>
      </p:sp>
      <p:sp>
        <p:nvSpPr>
          <p:cNvPr id="8" name="Text 6"/>
          <p:cNvSpPr txBox="1"/>
          <p:nvPr/>
        </p:nvSpPr>
        <p:spPr>
          <a:xfrm>
            <a:off x="10561320" y="1536192"/>
            <a:ext cx="914400" cy="694944"/>
          </a:xfrm>
          <a:prstGeom prst="rect">
            <a:avLst/>
          </a:prstGeom>
          <a:noFill/>
          <a:ln/>
        </p:spPr>
        <p:txBody>
          <a:bodyPr wrap="square" lIns="0" tIns="0" rIns="0" bIns="0" rtlCol="0" anchor="ctr"/>
          <a:lstStyle/>
          <a:p>
            <a:pPr algn="r" indent="0" marL="0">
              <a:buNone/>
            </a:pPr>
            <a:r>
              <a:rPr lang="en-US" sz="1400" b="1" dirty="0">
                <a:solidFill>
                  <a:schemeClr val="accent1"/>
                </a:solidFill>
              </a:rPr>
              <a:t>1 min</a:t>
            </a:r>
            <a:endParaRPr lang="en-US" sz="1400" dirty="0"/>
          </a:p>
        </p:txBody>
      </p:sp>
      <p:sp>
        <p:nvSpPr>
          <p:cNvPr id="9" name="Step 2"/>
          <p:cNvSpPr/>
          <p:nvPr/>
        </p:nvSpPr>
        <p:spPr>
          <a:xfrm>
            <a:off x="548640" y="2414016"/>
            <a:ext cx="11091672" cy="841248"/>
          </a:xfrm>
          <a:prstGeom prst="roundRect">
            <a:avLst>
              <a:gd name="adj" fmla="val 13043"/>
            </a:avLst>
          </a:prstGeom>
          <a:solidFill>
            <a:schemeClr val="bg2"/>
          </a:solidFill>
          <a:ln w="12700">
            <a:solidFill>
              <a:schemeClr val="bg2"/>
            </a:solidFill>
            <a:prstDash val="solid"/>
          </a:ln>
        </p:spPr>
      </p:sp>
      <p:sp>
        <p:nvSpPr>
          <p:cNvPr id="10" name="Step number 2"/>
          <p:cNvSpPr/>
          <p:nvPr/>
        </p:nvSpPr>
        <p:spPr>
          <a:xfrm>
            <a:off x="731520" y="2542032"/>
            <a:ext cx="585216" cy="585216"/>
          </a:xfrm>
          <a:prstGeom prst="ellipse">
            <a:avLst/>
          </a:prstGeom>
          <a:solidFill>
            <a:schemeClr val="accent6"/>
          </a:solidFill>
          <a:ln w="12700">
            <a:solidFill>
              <a:schemeClr val="accent6"/>
            </a:solidFill>
            <a:prstDash val="solid"/>
          </a:ln>
        </p:spPr>
      </p:sp>
      <p:sp>
        <p:nvSpPr>
          <p:cNvPr id="11" name="Text 9"/>
          <p:cNvSpPr txBox="1"/>
          <p:nvPr/>
        </p:nvSpPr>
        <p:spPr>
          <a:xfrm>
            <a:off x="731520" y="2542032"/>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2" name="Text 10"/>
          <p:cNvSpPr txBox="1"/>
          <p:nvPr/>
        </p:nvSpPr>
        <p:spPr>
          <a:xfrm>
            <a:off x="1554480" y="2487168"/>
            <a:ext cx="3291840" cy="694944"/>
          </a:xfrm>
          <a:prstGeom prst="rect">
            <a:avLst/>
          </a:prstGeom>
          <a:noFill/>
          <a:ln/>
        </p:spPr>
        <p:txBody>
          <a:bodyPr wrap="square" lIns="0" tIns="0" rIns="0" bIns="0" rtlCol="0" anchor="ctr"/>
          <a:lstStyle/>
          <a:p>
            <a:pPr indent="0" marL="0">
              <a:buNone/>
            </a:pPr>
            <a:r>
              <a:rPr lang="en-US" sz="1800" b="1" dirty="0">
                <a:solidFill>
                  <a:schemeClr val="tx1"/>
                </a:solidFill>
              </a:rPr>
              <a:t>Look under the hood</a:t>
            </a:r>
            <a:endParaRPr lang="en-US" sz="1800" dirty="0"/>
          </a:p>
        </p:txBody>
      </p:sp>
      <p:sp>
        <p:nvSpPr>
          <p:cNvPr id="13" name="Text 11"/>
          <p:cNvSpPr txBox="1"/>
          <p:nvPr/>
        </p:nvSpPr>
        <p:spPr>
          <a:xfrm>
            <a:off x="4937760" y="2487168"/>
            <a:ext cx="5577840" cy="694944"/>
          </a:xfrm>
          <a:prstGeom prst="rect">
            <a:avLst/>
          </a:prstGeom>
          <a:noFill/>
          <a:ln/>
        </p:spPr>
        <p:txBody>
          <a:bodyPr wrap="square" lIns="0" tIns="0" rIns="0" bIns="0" rtlCol="0" anchor="ctr"/>
          <a:lstStyle/>
          <a:p>
            <a:pPr indent="0" marL="0">
              <a:buNone/>
            </a:pPr>
            <a:r>
              <a:rPr lang="en-US" sz="1400" dirty="0">
                <a:solidFill>
                  <a:schemeClr val="tx2"/>
                </a:solidFill>
              </a:rPr>
              <a:t>Open Show SQL. Turn on Explain mode. Show the SQL rewritten for PostgreSQL.</a:t>
            </a:r>
            <a:endParaRPr lang="en-US" sz="1400" dirty="0"/>
          </a:p>
        </p:txBody>
      </p:sp>
      <p:sp>
        <p:nvSpPr>
          <p:cNvPr id="14" name="Text 12"/>
          <p:cNvSpPr txBox="1"/>
          <p:nvPr/>
        </p:nvSpPr>
        <p:spPr>
          <a:xfrm>
            <a:off x="10561320" y="2487168"/>
            <a:ext cx="914400" cy="694944"/>
          </a:xfrm>
          <a:prstGeom prst="rect">
            <a:avLst/>
          </a:prstGeom>
          <a:noFill/>
          <a:ln/>
        </p:spPr>
        <p:txBody>
          <a:bodyPr wrap="square" lIns="0" tIns="0" rIns="0" bIns="0" rtlCol="0" anchor="ctr"/>
          <a:lstStyle/>
          <a:p>
            <a:pPr algn="r" indent="0" marL="0">
              <a:buNone/>
            </a:pPr>
            <a:r>
              <a:rPr lang="en-US" sz="1400" b="1" dirty="0">
                <a:solidFill>
                  <a:schemeClr val="accent6"/>
                </a:solidFill>
              </a:rPr>
              <a:t>1 min</a:t>
            </a:r>
            <a:endParaRPr lang="en-US" sz="1400" dirty="0"/>
          </a:p>
        </p:txBody>
      </p:sp>
      <p:sp>
        <p:nvSpPr>
          <p:cNvPr id="15" name="Step 3"/>
          <p:cNvSpPr/>
          <p:nvPr/>
        </p:nvSpPr>
        <p:spPr>
          <a:xfrm>
            <a:off x="548640" y="3364992"/>
            <a:ext cx="11091672" cy="841248"/>
          </a:xfrm>
          <a:prstGeom prst="roundRect">
            <a:avLst>
              <a:gd name="adj" fmla="val 13043"/>
            </a:avLst>
          </a:prstGeom>
          <a:solidFill>
            <a:schemeClr val="bg2"/>
          </a:solidFill>
          <a:ln w="12700">
            <a:solidFill>
              <a:schemeClr val="bg2"/>
            </a:solidFill>
            <a:prstDash val="solid"/>
          </a:ln>
        </p:spPr>
      </p:sp>
      <p:sp>
        <p:nvSpPr>
          <p:cNvPr id="16" name="Step number 3"/>
          <p:cNvSpPr/>
          <p:nvPr/>
        </p:nvSpPr>
        <p:spPr>
          <a:xfrm>
            <a:off x="731520" y="3493008"/>
            <a:ext cx="585216" cy="585216"/>
          </a:xfrm>
          <a:prstGeom prst="ellipse">
            <a:avLst/>
          </a:prstGeom>
          <a:solidFill>
            <a:schemeClr val="accent4"/>
          </a:solidFill>
          <a:ln w="12700">
            <a:solidFill>
              <a:schemeClr val="accent4"/>
            </a:solidFill>
            <a:prstDash val="solid"/>
          </a:ln>
        </p:spPr>
      </p:sp>
      <p:sp>
        <p:nvSpPr>
          <p:cNvPr id="17" name="Text 15"/>
          <p:cNvSpPr txBox="1"/>
          <p:nvPr/>
        </p:nvSpPr>
        <p:spPr>
          <a:xfrm>
            <a:off x="731520" y="3493008"/>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8" name="Text 16"/>
          <p:cNvSpPr txBox="1"/>
          <p:nvPr/>
        </p:nvSpPr>
        <p:spPr>
          <a:xfrm>
            <a:off x="1554480" y="3438144"/>
            <a:ext cx="3291840" cy="694944"/>
          </a:xfrm>
          <a:prstGeom prst="rect">
            <a:avLst/>
          </a:prstGeom>
          <a:noFill/>
          <a:ln/>
        </p:spPr>
        <p:txBody>
          <a:bodyPr wrap="square" lIns="0" tIns="0" rIns="0" bIns="0" rtlCol="0" anchor="ctr"/>
          <a:lstStyle/>
          <a:p>
            <a:pPr indent="0" marL="0">
              <a:buNone/>
            </a:pPr>
            <a:r>
              <a:rPr lang="en-US" sz="1800" b="1" dirty="0">
                <a:solidFill>
                  <a:schemeClr val="tx1"/>
                </a:solidFill>
              </a:rPr>
              <a:t>Try to break it</a:t>
            </a:r>
            <a:endParaRPr lang="en-US" sz="1800" dirty="0"/>
          </a:p>
        </p:txBody>
      </p:sp>
      <p:sp>
        <p:nvSpPr>
          <p:cNvPr id="19" name="Text 17"/>
          <p:cNvSpPr txBox="1"/>
          <p:nvPr/>
        </p:nvSpPr>
        <p:spPr>
          <a:xfrm>
            <a:off x="4937760" y="3438144"/>
            <a:ext cx="5577840" cy="694944"/>
          </a:xfrm>
          <a:prstGeom prst="rect">
            <a:avLst/>
          </a:prstGeom>
          <a:noFill/>
          <a:ln/>
        </p:spPr>
        <p:txBody>
          <a:bodyPr wrap="square" lIns="0" tIns="0" rIns="0" bIns="0" rtlCol="0" anchor="ctr"/>
          <a:lstStyle/>
          <a:p>
            <a:pPr indent="0" marL="0">
              <a:buNone/>
            </a:pPr>
            <a:r>
              <a:rPr lang="en-US" sz="1400" dirty="0">
                <a:solidFill>
                  <a:schemeClr val="tx2"/>
                </a:solidFill>
              </a:rPr>
              <a:t>"Delete all orders from 2024" is refused instantly. No AI call is made.</a:t>
            </a:r>
            <a:endParaRPr lang="en-US" sz="1400" dirty="0"/>
          </a:p>
        </p:txBody>
      </p:sp>
      <p:sp>
        <p:nvSpPr>
          <p:cNvPr id="20" name="Text 18"/>
          <p:cNvSpPr txBox="1"/>
          <p:nvPr/>
        </p:nvSpPr>
        <p:spPr>
          <a:xfrm>
            <a:off x="10561320" y="3438144"/>
            <a:ext cx="914400" cy="694944"/>
          </a:xfrm>
          <a:prstGeom prst="rect">
            <a:avLst/>
          </a:prstGeom>
          <a:noFill/>
          <a:ln/>
        </p:spPr>
        <p:txBody>
          <a:bodyPr wrap="square" lIns="0" tIns="0" rIns="0" bIns="0" rtlCol="0" anchor="ctr"/>
          <a:lstStyle/>
          <a:p>
            <a:pPr algn="r" indent="0" marL="0">
              <a:buNone/>
            </a:pPr>
            <a:r>
              <a:rPr lang="en-US" sz="1400" b="1" dirty="0">
                <a:solidFill>
                  <a:schemeClr val="accent4"/>
                </a:solidFill>
              </a:rPr>
              <a:t>30 s</a:t>
            </a:r>
            <a:endParaRPr lang="en-US" sz="1400" dirty="0"/>
          </a:p>
        </p:txBody>
      </p:sp>
      <p:sp>
        <p:nvSpPr>
          <p:cNvPr id="21" name="Step 4"/>
          <p:cNvSpPr/>
          <p:nvPr/>
        </p:nvSpPr>
        <p:spPr>
          <a:xfrm>
            <a:off x="548640" y="4315968"/>
            <a:ext cx="11091672" cy="841248"/>
          </a:xfrm>
          <a:prstGeom prst="roundRect">
            <a:avLst>
              <a:gd name="adj" fmla="val 13043"/>
            </a:avLst>
          </a:prstGeom>
          <a:solidFill>
            <a:schemeClr val="bg2"/>
          </a:solidFill>
          <a:ln w="12700">
            <a:solidFill>
              <a:schemeClr val="bg2"/>
            </a:solidFill>
            <a:prstDash val="solid"/>
          </a:ln>
        </p:spPr>
      </p:sp>
      <p:sp>
        <p:nvSpPr>
          <p:cNvPr id="22" name="Step number 4"/>
          <p:cNvSpPr/>
          <p:nvPr/>
        </p:nvSpPr>
        <p:spPr>
          <a:xfrm>
            <a:off x="731520" y="4443984"/>
            <a:ext cx="585216" cy="585216"/>
          </a:xfrm>
          <a:prstGeom prst="ellipse">
            <a:avLst/>
          </a:prstGeom>
          <a:solidFill>
            <a:schemeClr val="accent2"/>
          </a:solidFill>
          <a:ln w="12700">
            <a:solidFill>
              <a:schemeClr val="accent2"/>
            </a:solidFill>
            <a:prstDash val="solid"/>
          </a:ln>
        </p:spPr>
      </p:sp>
      <p:sp>
        <p:nvSpPr>
          <p:cNvPr id="23" name="Text 21"/>
          <p:cNvSpPr txBox="1"/>
          <p:nvPr/>
        </p:nvSpPr>
        <p:spPr>
          <a:xfrm>
            <a:off x="731520" y="4443984"/>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4" name="Text 22"/>
          <p:cNvSpPr txBox="1"/>
          <p:nvPr/>
        </p:nvSpPr>
        <p:spPr>
          <a:xfrm>
            <a:off x="1554480" y="4389120"/>
            <a:ext cx="3291840" cy="694944"/>
          </a:xfrm>
          <a:prstGeom prst="rect">
            <a:avLst/>
          </a:prstGeom>
          <a:noFill/>
          <a:ln/>
        </p:spPr>
        <p:txBody>
          <a:bodyPr wrap="square" lIns="0" tIns="0" rIns="0" bIns="0" rtlCol="0" anchor="ctr"/>
          <a:lstStyle/>
          <a:p>
            <a:pPr indent="0" marL="0">
              <a:buNone/>
            </a:pPr>
            <a:r>
              <a:rPr lang="en-US" sz="1800" b="1" dirty="0">
                <a:solidFill>
                  <a:schemeClr val="tx1"/>
                </a:solidFill>
              </a:rPr>
              <a:t>Bring your own data</a:t>
            </a:r>
            <a:endParaRPr lang="en-US" sz="1800" dirty="0"/>
          </a:p>
        </p:txBody>
      </p:sp>
      <p:sp>
        <p:nvSpPr>
          <p:cNvPr id="25" name="Text 23"/>
          <p:cNvSpPr txBox="1"/>
          <p:nvPr/>
        </p:nvSpPr>
        <p:spPr>
          <a:xfrm>
            <a:off x="4937760" y="4389120"/>
            <a:ext cx="5577840" cy="694944"/>
          </a:xfrm>
          <a:prstGeom prst="rect">
            <a:avLst/>
          </a:prstGeom>
          <a:noFill/>
          <a:ln/>
        </p:spPr>
        <p:txBody>
          <a:bodyPr wrap="square" lIns="0" tIns="0" rIns="0" bIns="0" rtlCol="0" anchor="ctr"/>
          <a:lstStyle/>
          <a:p>
            <a:pPr indent="0" marL="0">
              <a:buNone/>
            </a:pPr>
            <a:r>
              <a:rPr lang="en-US" sz="1400" dirty="0">
                <a:solidFill>
                  <a:schemeClr val="tx2"/>
                </a:solidFill>
              </a:rPr>
              <a:t>Upload suppliers.csv, review types, import, then ask which suppliers rate above 4.</a:t>
            </a:r>
            <a:endParaRPr lang="en-US" sz="1400" dirty="0"/>
          </a:p>
        </p:txBody>
      </p:sp>
      <p:sp>
        <p:nvSpPr>
          <p:cNvPr id="26" name="Text 24"/>
          <p:cNvSpPr txBox="1"/>
          <p:nvPr/>
        </p:nvSpPr>
        <p:spPr>
          <a:xfrm>
            <a:off x="10561320" y="4389120"/>
            <a:ext cx="914400" cy="694944"/>
          </a:xfrm>
          <a:prstGeom prst="rect">
            <a:avLst/>
          </a:prstGeom>
          <a:noFill/>
          <a:ln/>
        </p:spPr>
        <p:txBody>
          <a:bodyPr wrap="square" lIns="0" tIns="0" rIns="0" bIns="0" rtlCol="0" anchor="ctr"/>
          <a:lstStyle/>
          <a:p>
            <a:pPr algn="r" indent="0" marL="0">
              <a:buNone/>
            </a:pPr>
            <a:r>
              <a:rPr lang="en-US" sz="1400" b="1" dirty="0">
                <a:solidFill>
                  <a:schemeClr val="accent2"/>
                </a:solidFill>
              </a:rPr>
              <a:t>1.5 min</a:t>
            </a:r>
            <a:endParaRPr lang="en-US" sz="1400" dirty="0"/>
          </a:p>
        </p:txBody>
      </p:sp>
      <p:sp>
        <p:nvSpPr>
          <p:cNvPr id="27" name="Step 5"/>
          <p:cNvSpPr/>
          <p:nvPr/>
        </p:nvSpPr>
        <p:spPr>
          <a:xfrm>
            <a:off x="548640" y="5266944"/>
            <a:ext cx="11091672" cy="841248"/>
          </a:xfrm>
          <a:prstGeom prst="roundRect">
            <a:avLst>
              <a:gd name="adj" fmla="val 13043"/>
            </a:avLst>
          </a:prstGeom>
          <a:solidFill>
            <a:schemeClr val="bg2"/>
          </a:solidFill>
          <a:ln w="12700">
            <a:solidFill>
              <a:schemeClr val="bg2"/>
            </a:solidFill>
            <a:prstDash val="solid"/>
          </a:ln>
        </p:spPr>
      </p:sp>
      <p:sp>
        <p:nvSpPr>
          <p:cNvPr id="28" name="Step number 5"/>
          <p:cNvSpPr/>
          <p:nvPr/>
        </p:nvSpPr>
        <p:spPr>
          <a:xfrm>
            <a:off x="731520" y="5394960"/>
            <a:ext cx="585216" cy="585216"/>
          </a:xfrm>
          <a:prstGeom prst="ellipse">
            <a:avLst/>
          </a:prstGeom>
          <a:solidFill>
            <a:schemeClr val="accent3"/>
          </a:solidFill>
          <a:ln w="12700">
            <a:solidFill>
              <a:schemeClr val="accent3"/>
            </a:solidFill>
            <a:prstDash val="solid"/>
          </a:ln>
        </p:spPr>
      </p:sp>
      <p:sp>
        <p:nvSpPr>
          <p:cNvPr id="29" name="Text 27"/>
          <p:cNvSpPr txBox="1"/>
          <p:nvPr/>
        </p:nvSpPr>
        <p:spPr>
          <a:xfrm>
            <a:off x="731520" y="5394960"/>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30" name="Text 28"/>
          <p:cNvSpPr txBox="1"/>
          <p:nvPr/>
        </p:nvSpPr>
        <p:spPr>
          <a:xfrm>
            <a:off x="1554480" y="5340096"/>
            <a:ext cx="3291840" cy="694944"/>
          </a:xfrm>
          <a:prstGeom prst="rect">
            <a:avLst/>
          </a:prstGeom>
          <a:noFill/>
          <a:ln/>
        </p:spPr>
        <p:txBody>
          <a:bodyPr wrap="square" lIns="0" tIns="0" rIns="0" bIns="0" rtlCol="0" anchor="ctr"/>
          <a:lstStyle/>
          <a:p>
            <a:pPr indent="0" marL="0">
              <a:buNone/>
            </a:pPr>
            <a:r>
              <a:rPr lang="en-US" sz="1800" b="1" dirty="0">
                <a:solidFill>
                  <a:schemeClr val="tx1"/>
                </a:solidFill>
              </a:rPr>
              <a:t>Admin control</a:t>
            </a:r>
            <a:endParaRPr lang="en-US" sz="1800" dirty="0"/>
          </a:p>
        </p:txBody>
      </p:sp>
      <p:sp>
        <p:nvSpPr>
          <p:cNvPr id="31" name="Text 29"/>
          <p:cNvSpPr txBox="1"/>
          <p:nvPr/>
        </p:nvSpPr>
        <p:spPr>
          <a:xfrm>
            <a:off x="4937760" y="5340096"/>
            <a:ext cx="5577840" cy="694944"/>
          </a:xfrm>
          <a:prstGeom prst="rect">
            <a:avLst/>
          </a:prstGeom>
          <a:noFill/>
          <a:ln/>
        </p:spPr>
        <p:txBody>
          <a:bodyPr wrap="square" lIns="0" tIns="0" rIns="0" bIns="0" rtlCol="0" anchor="ctr"/>
          <a:lstStyle/>
          <a:p>
            <a:pPr indent="0" marL="0">
              <a:buNone/>
            </a:pPr>
            <a:r>
              <a:rPr lang="en-US" sz="1400" dirty="0">
                <a:solidFill>
                  <a:schemeClr val="tx2"/>
                </a:solidFill>
              </a:rPr>
              <a:t>Set max rows to 5 in Guardrails, ask again, then open Logs and export CSV.</a:t>
            </a:r>
            <a:endParaRPr lang="en-US" sz="1400" dirty="0"/>
          </a:p>
        </p:txBody>
      </p:sp>
      <p:sp>
        <p:nvSpPr>
          <p:cNvPr id="32" name="Text 30"/>
          <p:cNvSpPr txBox="1"/>
          <p:nvPr/>
        </p:nvSpPr>
        <p:spPr>
          <a:xfrm>
            <a:off x="10561320" y="5340096"/>
            <a:ext cx="914400" cy="694944"/>
          </a:xfrm>
          <a:prstGeom prst="rect">
            <a:avLst/>
          </a:prstGeom>
          <a:noFill/>
          <a:ln/>
        </p:spPr>
        <p:txBody>
          <a:bodyPr wrap="square" lIns="0" tIns="0" rIns="0" bIns="0" rtlCol="0" anchor="ctr"/>
          <a:lstStyle/>
          <a:p>
            <a:pPr algn="r" indent="0" marL="0">
              <a:buNone/>
            </a:pPr>
            <a:r>
              <a:rPr lang="en-US" sz="1400" b="1" dirty="0">
                <a:solidFill>
                  <a:schemeClr val="accent3"/>
                </a:solidFill>
              </a:rPr>
              <a:t>1 min</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Demo 1: plain English in, answer out</a:t>
            </a:r>
            <a:endParaRPr lang="en-US" sz="3600" dirty="0"/>
          </a:p>
        </p:txBody>
      </p:sp>
      <p:sp>
        <p:nvSpPr>
          <p:cNvPr id="3" name="Question bubble"/>
          <p:cNvSpPr/>
          <p:nvPr/>
        </p:nvSpPr>
        <p:spPr>
          <a:xfrm>
            <a:off x="548640" y="1463040"/>
            <a:ext cx="5212080" cy="914400"/>
          </a:xfrm>
          <a:prstGeom prst="roundRect">
            <a:avLst>
              <a:gd name="adj" fmla="val 12000"/>
            </a:avLst>
          </a:prstGeom>
          <a:solidFill>
            <a:schemeClr val="accent1"/>
          </a:solidFill>
          <a:ln w="12700">
            <a:solidFill>
              <a:schemeClr val="accent1"/>
            </a:solidFill>
            <a:prstDash val="solid"/>
          </a:ln>
        </p:spPr>
      </p:sp>
      <p:sp>
        <p:nvSpPr>
          <p:cNvPr id="4" name="Text 2"/>
          <p:cNvSpPr txBox="1"/>
          <p:nvPr/>
        </p:nvSpPr>
        <p:spPr>
          <a:xfrm>
            <a:off x="777240" y="1463040"/>
            <a:ext cx="4754880" cy="914400"/>
          </a:xfrm>
          <a:prstGeom prst="rect">
            <a:avLst/>
          </a:prstGeom>
          <a:noFill/>
          <a:ln/>
        </p:spPr>
        <p:txBody>
          <a:bodyPr wrap="square" lIns="0" tIns="0" rIns="0" bIns="0" rtlCol="0" anchor="ctr"/>
          <a:lstStyle/>
          <a:p>
            <a:pPr indent="0" marL="0">
              <a:buNone/>
            </a:pPr>
            <a:r>
              <a:rPr lang="en-US" sz="2000" b="1" dirty="0">
                <a:solidFill>
                  <a:schemeClr val="bg1"/>
                </a:solidFill>
              </a:rPr>
              <a:t>What is the total revenue by product category?</a:t>
            </a:r>
            <a:endParaRPr lang="en-US" sz="2000" dirty="0"/>
          </a:p>
        </p:txBody>
      </p:sp>
      <p:sp>
        <p:nvSpPr>
          <p:cNvPr id="5" name="Text 3"/>
          <p:cNvSpPr txBox="1"/>
          <p:nvPr/>
        </p:nvSpPr>
        <p:spPr>
          <a:xfrm>
            <a:off x="548640" y="2697480"/>
            <a:ext cx="5212080" cy="365760"/>
          </a:xfrm>
          <a:prstGeom prst="rect">
            <a:avLst/>
          </a:prstGeom>
          <a:noFill/>
          <a:ln/>
        </p:spPr>
        <p:txBody>
          <a:bodyPr wrap="square" lIns="0" tIns="0" rIns="0" bIns="0" rtlCol="0" anchor="ctr"/>
          <a:lstStyle/>
          <a:p>
            <a:pPr indent="0" marL="0">
              <a:buNone/>
            </a:pPr>
            <a:r>
              <a:rPr lang="en-US" sz="1800" b="1" dirty="0">
                <a:solidFill>
                  <a:schemeClr val="tx1"/>
                </a:solidFill>
              </a:rPr>
              <a:t>What happens in about 10-15 seconds</a:t>
            </a:r>
            <a:endParaRPr lang="en-US" sz="1800" dirty="0"/>
          </a:p>
        </p:txBody>
      </p:sp>
      <p:sp>
        <p:nvSpPr>
          <p:cNvPr id="6" name="Text 4"/>
          <p:cNvSpPr txBox="1"/>
          <p:nvPr/>
        </p:nvSpPr>
        <p:spPr>
          <a:xfrm>
            <a:off x="548640" y="3154680"/>
            <a:ext cx="521208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Classified as an aggregate question</a:t>
            </a:r>
            <a:endParaRPr lang="en-US" sz="1500" dirty="0"/>
          </a:p>
          <a:p>
            <a:pPr marL="342900" indent="-342900">
              <a:spcAft>
                <a:spcPts val="600"/>
              </a:spcAft>
              <a:buSzPct val="100000"/>
              <a:buChar char="•"/>
            </a:pPr>
            <a:r>
              <a:rPr lang="en-US" sz="1500" dirty="0">
                <a:solidFill>
                  <a:schemeClr val="tx2"/>
                </a:solidFill>
              </a:rPr>
              <a:t>Linker notices "revenue" could mean two columns and offers a choice</a:t>
            </a:r>
            <a:endParaRPr lang="en-US" sz="1500" dirty="0"/>
          </a:p>
          <a:p>
            <a:pPr marL="342900" indent="-342900">
              <a:spcAft>
                <a:spcPts val="600"/>
              </a:spcAft>
              <a:buSzPct val="100000"/>
              <a:buChar char="•"/>
            </a:pPr>
            <a:r>
              <a:rPr lang="en-US" sz="1500" dirty="0">
                <a:solidFill>
                  <a:schemeClr val="tx2"/>
                </a:solidFill>
              </a:rPr>
              <a:t>Four similar solved examples are retrieved</a:t>
            </a:r>
            <a:endParaRPr lang="en-US" sz="1500" dirty="0"/>
          </a:p>
          <a:p>
            <a:pPr marL="342900" indent="-342900">
              <a:spcAft>
                <a:spcPts val="600"/>
              </a:spcAft>
              <a:buSzPct val="100000"/>
              <a:buChar char="•"/>
            </a:pPr>
            <a:r>
              <a:rPr lang="en-US" sz="1500" dirty="0">
                <a:solidFill>
                  <a:schemeClr val="tx2"/>
                </a:solidFill>
              </a:rPr>
              <a:t>SQL is written, validated and run read-only</a:t>
            </a:r>
            <a:endParaRPr lang="en-US" sz="1500" dirty="0"/>
          </a:p>
          <a:p>
            <a:pPr marL="342900" indent="-342900">
              <a:spcAft>
                <a:spcPts val="600"/>
              </a:spcAft>
              <a:buSzPct val="100000"/>
              <a:buChar char="•"/>
            </a:pPr>
            <a:r>
              <a:rPr lang="en-US" sz="1500" dirty="0">
                <a:solidFill>
                  <a:schemeClr val="tx2"/>
                </a:solidFill>
              </a:rPr>
              <a:t>Table, bar chart and a short summary come back</a:t>
            </a:r>
            <a:endParaRPr lang="en-US" sz="1500" dirty="0"/>
          </a:p>
        </p:txBody>
      </p:sp>
      <p:sp>
        <p:nvSpPr>
          <p:cNvPr id="7" name="Convention note"/>
          <p:cNvSpPr/>
          <p:nvPr/>
        </p:nvSpPr>
        <p:spPr>
          <a:xfrm>
            <a:off x="548640" y="5029200"/>
            <a:ext cx="5212080" cy="1143000"/>
          </a:xfrm>
          <a:prstGeom prst="roundRect">
            <a:avLst>
              <a:gd name="adj" fmla="val 9600"/>
            </a:avLst>
          </a:prstGeom>
          <a:solidFill>
            <a:schemeClr val="accent5">
              <a:alpha val="12000"/>
            </a:schemeClr>
          </a:solidFill>
          <a:ln w="12700">
            <a:solidFill>
              <a:schemeClr val="accent5"/>
            </a:solidFill>
            <a:prstDash val="solid"/>
          </a:ln>
        </p:spPr>
      </p:sp>
      <p:sp>
        <p:nvSpPr>
          <p:cNvPr id="8" name="Text 6"/>
          <p:cNvSpPr txBox="1"/>
          <p:nvPr/>
        </p:nvSpPr>
        <p:spPr>
          <a:xfrm>
            <a:off x="731520" y="5029200"/>
            <a:ext cx="4846320" cy="1143000"/>
          </a:xfrm>
          <a:prstGeom prst="rect">
            <a:avLst/>
          </a:prstGeom>
          <a:noFill/>
          <a:ln/>
        </p:spPr>
        <p:txBody>
          <a:bodyPr wrap="square" lIns="0" tIns="0" rIns="0" bIns="0" rtlCol="0" anchor="ctr"/>
          <a:lstStyle/>
          <a:p>
            <a:pPr indent="0" marL="0">
              <a:buNone/>
            </a:pPr>
            <a:r>
              <a:rPr lang="en-US" sz="1400" b="1" dirty="0">
                <a:solidFill>
                  <a:schemeClr val="tx1"/>
                </a:solidFill>
              </a:rPr>
              <a:t>Why the buttons? </a:t>
            </a:r>
            <a:pPr indent="0" marL="0">
              <a:buNone/>
            </a:pPr>
            <a:r>
              <a:rPr lang="en-US" sz="1400" dirty="0">
                <a:solidFill>
                  <a:schemeClr val="tx1"/>
                </a:solidFill>
              </a:rPr>
              <a:t>Revenue by product or category sums line totals; by customer, country or month it sums order totals. Cancelled orders are excluded.</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126480" y="1463040"/>
          <a:ext cx="5513832" cy="914400"/>
        </p:xfrm>
        <a:graphic>
          <a:graphicData uri="http://schemas.openxmlformats.org/drawingml/2006/table">
            <a:tbl>
              <a:tblPr/>
              <a:tblGrid>
                <a:gridCol w="3291840"/>
                <a:gridCol w="2221992"/>
              </a:tblGrid>
              <a:tr h="384048">
                <a:tc>
                  <a:txBody>
                    <a:bodyPr/>
                    <a:lstStyle/>
                    <a:p>
                      <a:pPr indent="0" marL="0">
                        <a:buNone/>
                      </a:pPr>
                      <a:r>
                        <a:rPr lang="en-US" sz="1400" b="1" dirty="0">
                          <a:solidFill>
                            <a:srgbClr val="FFFFFF"/>
                          </a:solidFill>
                        </a:rPr>
                        <a:t>category</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algn="r" indent="0" marL="0">
                        <a:buNone/>
                      </a:pPr>
                      <a:r>
                        <a:rPr lang="en-US" sz="1400" b="1" dirty="0">
                          <a:solidFill>
                            <a:srgbClr val="FFFFFF"/>
                          </a:solidFill>
                        </a:rPr>
                        <a:t>revenue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r>
              <a:tr h="384048">
                <a:tc>
                  <a:txBody>
                    <a:bodyPr/>
                    <a:lstStyle/>
                    <a:p>
                      <a:pPr indent="0" marL="0">
                        <a:buNone/>
                      </a:pPr>
                      <a:r>
                        <a:rPr lang="en-US" sz="1400" dirty="0">
                          <a:solidFill>
                            <a:srgbClr val="0F172A"/>
                          </a:solidFill>
                        </a:rPr>
                        <a:t>Electronics</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r" indent="0" marL="0">
                        <a:buNone/>
                      </a:pPr>
                      <a:r>
                        <a:rPr lang="en-US" sz="1400" dirty="0">
                          <a:solidFill>
                            <a:srgbClr val="0F172A"/>
                          </a:solidFill>
                        </a:rPr>
                        <a:t>548,966.56</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84048">
                <a:tc>
                  <a:txBody>
                    <a:bodyPr/>
                    <a:lstStyle/>
                    <a:p>
                      <a:pPr indent="0" marL="0">
                        <a:buNone/>
                      </a:pPr>
                      <a:r>
                        <a:rPr lang="en-US" sz="1400" dirty="0">
                          <a:solidFill>
                            <a:srgbClr val="0F172A"/>
                          </a:solidFill>
                        </a:rPr>
                        <a:t>Automotive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r" indent="0" marL="0">
                        <a:buNone/>
                      </a:pPr>
                      <a:r>
                        <a:rPr lang="en-US" sz="1400" dirty="0">
                          <a:solidFill>
                            <a:srgbClr val="0F172A"/>
                          </a:solidFill>
                        </a:rPr>
                        <a:t>108,307.10</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84048">
                <a:tc>
                  <a:txBody>
                    <a:bodyPr/>
                    <a:lstStyle/>
                    <a:p>
                      <a:pPr indent="0" marL="0">
                        <a:buNone/>
                      </a:pPr>
                      <a:r>
                        <a:rPr lang="en-US" sz="1400" dirty="0">
                          <a:solidFill>
                            <a:srgbClr val="0F172A"/>
                          </a:solidFill>
                        </a:rPr>
                        <a:t>Home &amp; Kitchen</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r" indent="0" marL="0">
                        <a:buNone/>
                      </a:pPr>
                      <a:r>
                        <a:rPr lang="en-US" sz="1400" dirty="0">
                          <a:solidFill>
                            <a:srgbClr val="0F172A"/>
                          </a:solidFill>
                        </a:rPr>
                        <a:t>101,710.83</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84048">
                <a:tc>
                  <a:txBody>
                    <a:bodyPr/>
                    <a:lstStyle/>
                    <a:p>
                      <a:pPr indent="0" marL="0">
                        <a:buNone/>
                      </a:pPr>
                      <a:r>
                        <a:rPr lang="en-US" sz="1400" dirty="0">
                          <a:solidFill>
                            <a:srgbClr val="0F172A"/>
                          </a:solidFill>
                        </a:rPr>
                        <a:t>Sports</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r" indent="0" marL="0">
                        <a:buNone/>
                      </a:pPr>
                      <a:r>
                        <a:rPr lang="en-US" sz="1400" dirty="0">
                          <a:solidFill>
                            <a:srgbClr val="0F172A"/>
                          </a:solidFill>
                        </a:rPr>
                        <a:t>101,235.48</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84048">
                <a:tc>
                  <a:txBody>
                    <a:bodyPr/>
                    <a:lstStyle/>
                    <a:p>
                      <a:pPr indent="0" marL="0">
                        <a:buNone/>
                      </a:pPr>
                      <a:r>
                        <a:rPr lang="en-US" sz="1400" dirty="0">
                          <a:solidFill>
                            <a:srgbClr val="0F172A"/>
                          </a:solidFill>
                        </a:rPr>
                        <a:t>Office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r" indent="0" marL="0">
                        <a:buNone/>
                      </a:pPr>
                      <a:r>
                        <a:rPr lang="en-US" sz="1400" dirty="0">
                          <a:solidFill>
                            <a:srgbClr val="0F172A"/>
                          </a:solidFill>
                        </a:rPr>
                        <a:t>99,280.13</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384048">
                <a:tc>
                  <a:txBody>
                    <a:bodyPr/>
                    <a:lstStyle/>
                    <a:p>
                      <a:pPr indent="0" marL="0">
                        <a:buNone/>
                      </a:pPr>
                      <a:r>
                        <a:rPr lang="en-US" sz="1400" i="1" dirty="0">
                          <a:solidFill>
                            <a:srgbClr val="475569"/>
                          </a:solidFill>
                        </a:rPr>
                        <a:t>... 7 more categories</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10" name="SQL box"/>
          <p:cNvSpPr/>
          <p:nvPr/>
        </p:nvSpPr>
        <p:spPr>
          <a:xfrm>
            <a:off x="6126480" y="4343400"/>
            <a:ext cx="5513832" cy="1463040"/>
          </a:xfrm>
          <a:prstGeom prst="roundRect">
            <a:avLst>
              <a:gd name="adj" fmla="val 7500"/>
            </a:avLst>
          </a:prstGeom>
          <a:solidFill>
            <a:schemeClr val="tx1"/>
          </a:solidFill>
          <a:ln w="12700">
            <a:solidFill>
              <a:schemeClr val="tx1"/>
            </a:solidFill>
            <a:prstDash val="solid"/>
          </a:ln>
        </p:spPr>
      </p:sp>
      <p:sp>
        <p:nvSpPr>
          <p:cNvPr id="11" name="Text 8"/>
          <p:cNvSpPr txBox="1"/>
          <p:nvPr/>
        </p:nvSpPr>
        <p:spPr>
          <a:xfrm>
            <a:off x="6355080" y="4480560"/>
            <a:ext cx="5120640" cy="1188720"/>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SELECT c.name AS category,</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ROUND(SUM(oi.line_total), 2) AS revenue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FROM order_items oi JOIN orders o JOIN products p ...</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WHERE o.status != 'cancelled'</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GROUP BY c.name ORDER BY revenue DESC</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Demo 2: refusals, hidden PII, your own data</a:t>
            </a:r>
            <a:endParaRPr lang="en-US" sz="3600" dirty="0"/>
          </a:p>
        </p:txBody>
      </p:sp>
      <p:sp>
        <p:nvSpPr>
          <p:cNvPr id="3" name="Demo card 1"/>
          <p:cNvSpPr/>
          <p:nvPr/>
        </p:nvSpPr>
        <p:spPr>
          <a:xfrm>
            <a:off x="548640" y="1463040"/>
            <a:ext cx="3566160" cy="3703320"/>
          </a:xfrm>
          <a:prstGeom prst="roundRect">
            <a:avLst>
              <a:gd name="adj" fmla="val 3077"/>
            </a:avLst>
          </a:prstGeom>
          <a:solidFill>
            <a:schemeClr val="bg2"/>
          </a:solidFill>
          <a:ln w="12700">
            <a:solidFill>
              <a:schemeClr val="bg2"/>
            </a:solidFill>
            <a:prstDash val="solid"/>
          </a:ln>
        </p:spPr>
      </p:sp>
      <p:sp>
        <p:nvSpPr>
          <p:cNvPr id="4" name="Blocked in 0.1 s circle"/>
          <p:cNvSpPr/>
          <p:nvPr/>
        </p:nvSpPr>
        <p:spPr>
          <a:xfrm>
            <a:off x="822960" y="1691640"/>
            <a:ext cx="640080" cy="640080"/>
          </a:xfrm>
          <a:prstGeom prst="ellipse">
            <a:avLst/>
          </a:prstGeom>
          <a:solidFill>
            <a:schemeClr val="accent4"/>
          </a:solidFill>
          <a:ln w="12700">
            <a:solidFill>
              <a:schemeClr val="accent4"/>
            </a:solidFill>
            <a:prstDash val="solid"/>
          </a:ln>
        </p:spPr>
      </p:sp>
      <p:pic>
        <p:nvPicPr>
          <p:cNvPr id="5" name="Blocked in 0.1 s icon" descr="Blocked in 0.1 s">    </p:cNvPr>
          <p:cNvPicPr>
            <a:picLocks noChangeAspect="1"/>
          </p:cNvPicPr>
          <p:nvPr/>
        </p:nvPicPr>
        <p:blipFill>
          <a:blip r:embed="rId1"/>
          <a:stretch>
            <a:fillRect/>
          </a:stretch>
        </p:blipFill>
        <p:spPr>
          <a:xfrm>
            <a:off x="989381" y="1858061"/>
            <a:ext cx="307238" cy="307238"/>
          </a:xfrm>
          <a:prstGeom prst="rect">
            <a:avLst/>
          </a:prstGeom>
        </p:spPr>
      </p:pic>
      <p:sp>
        <p:nvSpPr>
          <p:cNvPr id="6" name="Text 3"/>
          <p:cNvSpPr txBox="1"/>
          <p:nvPr/>
        </p:nvSpPr>
        <p:spPr>
          <a:xfrm>
            <a:off x="1600200" y="169164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Blocked in 0.1 s</a:t>
            </a:r>
            <a:endParaRPr lang="en-US" sz="1800" dirty="0"/>
          </a:p>
        </p:txBody>
      </p:sp>
      <p:sp>
        <p:nvSpPr>
          <p:cNvPr id="7" name="Text 4"/>
          <p:cNvSpPr txBox="1"/>
          <p:nvPr/>
        </p:nvSpPr>
        <p:spPr>
          <a:xfrm>
            <a:off x="822960" y="2651760"/>
            <a:ext cx="3017520" cy="274320"/>
          </a:xfrm>
          <a:prstGeom prst="rect">
            <a:avLst/>
          </a:prstGeom>
          <a:noFill/>
          <a:ln/>
        </p:spPr>
        <p:txBody>
          <a:bodyPr wrap="square" lIns="0" tIns="0" rIns="0" bIns="0" rtlCol="0" anchor="ctr"/>
          <a:lstStyle/>
          <a:p>
            <a:pPr indent="0" marL="0">
              <a:buNone/>
            </a:pPr>
            <a:r>
              <a:rPr lang="en-US" sz="1200" b="1" dirty="0">
                <a:solidFill>
                  <a:schemeClr val="accent4"/>
                </a:solidFill>
              </a:rPr>
              <a:t>You type</a:t>
            </a:r>
            <a:endParaRPr lang="en-US" sz="1200" dirty="0"/>
          </a:p>
        </p:txBody>
      </p:sp>
      <p:sp>
        <p:nvSpPr>
          <p:cNvPr id="8" name="Text 5"/>
          <p:cNvSpPr txBox="1"/>
          <p:nvPr/>
        </p:nvSpPr>
        <p:spPr>
          <a:xfrm>
            <a:off x="822960" y="2944368"/>
            <a:ext cx="3017520" cy="685800"/>
          </a:xfrm>
          <a:prstGeom prst="rect">
            <a:avLst/>
          </a:prstGeom>
          <a:noFill/>
          <a:ln/>
        </p:spPr>
        <p:txBody>
          <a:bodyPr wrap="square" lIns="0" tIns="0" rIns="0" bIns="0" rtlCol="0" anchor="t"/>
          <a:lstStyle/>
          <a:p>
            <a:pPr indent="0" marL="0">
              <a:buNone/>
            </a:pPr>
            <a:r>
              <a:rPr lang="en-US" sz="1500" i="1" dirty="0">
                <a:solidFill>
                  <a:schemeClr val="tx1"/>
                </a:solidFill>
              </a:rPr>
              <a:t>"Delete all orders from 2024"</a:t>
            </a:r>
            <a:endParaRPr lang="en-US" sz="1500" dirty="0"/>
          </a:p>
        </p:txBody>
      </p:sp>
      <p:sp>
        <p:nvSpPr>
          <p:cNvPr id="9" name="Text 6"/>
          <p:cNvSpPr txBox="1"/>
          <p:nvPr/>
        </p:nvSpPr>
        <p:spPr>
          <a:xfrm>
            <a:off x="822960" y="3749040"/>
            <a:ext cx="3017520" cy="274320"/>
          </a:xfrm>
          <a:prstGeom prst="rect">
            <a:avLst/>
          </a:prstGeom>
          <a:noFill/>
          <a:ln/>
        </p:spPr>
        <p:txBody>
          <a:bodyPr wrap="square" lIns="0" tIns="0" rIns="0" bIns="0" rtlCol="0" anchor="ctr"/>
          <a:lstStyle/>
          <a:p>
            <a:pPr indent="0" marL="0">
              <a:buNone/>
            </a:pPr>
            <a:r>
              <a:rPr lang="en-US" sz="1200" b="1" dirty="0">
                <a:solidFill>
                  <a:schemeClr val="accent4"/>
                </a:solidFill>
              </a:rPr>
              <a:t>You see</a:t>
            </a:r>
            <a:endParaRPr lang="en-US" sz="1200" dirty="0"/>
          </a:p>
        </p:txBody>
      </p:sp>
      <p:sp>
        <p:nvSpPr>
          <p:cNvPr id="10" name="Text 7"/>
          <p:cNvSpPr txBox="1"/>
          <p:nvPr/>
        </p:nvSpPr>
        <p:spPr>
          <a:xfrm>
            <a:off x="822960" y="4041648"/>
            <a:ext cx="3017520" cy="1051560"/>
          </a:xfrm>
          <a:prstGeom prst="rect">
            <a:avLst/>
          </a:prstGeom>
          <a:noFill/>
          <a:ln/>
        </p:spPr>
        <p:txBody>
          <a:bodyPr wrap="square" lIns="0" tIns="0" rIns="0" bIns="0" rtlCol="0" anchor="t"/>
          <a:lstStyle/>
          <a:p>
            <a:pPr indent="0" marL="0">
              <a:buNone/>
            </a:pPr>
            <a:r>
              <a:rPr lang="en-US" sz="1400" dirty="0">
                <a:solidFill>
                  <a:schemeClr val="tx2"/>
                </a:solidFill>
              </a:rPr>
              <a:t>"I can only answer read-only questions about your data... I can't modify, delete or restructure data." No AI call, no SQL, logged as unsupported.</a:t>
            </a:r>
            <a:endParaRPr lang="en-US" sz="1400" dirty="0"/>
          </a:p>
        </p:txBody>
      </p:sp>
      <p:sp>
        <p:nvSpPr>
          <p:cNvPr id="11" name="Demo card 2"/>
          <p:cNvSpPr/>
          <p:nvPr/>
        </p:nvSpPr>
        <p:spPr>
          <a:xfrm>
            <a:off x="4297680" y="1463040"/>
            <a:ext cx="3566160" cy="3703320"/>
          </a:xfrm>
          <a:prstGeom prst="roundRect">
            <a:avLst>
              <a:gd name="adj" fmla="val 3077"/>
            </a:avLst>
          </a:prstGeom>
          <a:solidFill>
            <a:schemeClr val="bg2"/>
          </a:solidFill>
          <a:ln w="12700">
            <a:solidFill>
              <a:schemeClr val="bg2"/>
            </a:solidFill>
            <a:prstDash val="solid"/>
          </a:ln>
        </p:spPr>
      </p:sp>
      <p:sp>
        <p:nvSpPr>
          <p:cNvPr id="12" name="Personal data stays hidden circle"/>
          <p:cNvSpPr/>
          <p:nvPr/>
        </p:nvSpPr>
        <p:spPr>
          <a:xfrm>
            <a:off x="4572000" y="1691640"/>
            <a:ext cx="640080" cy="640080"/>
          </a:xfrm>
          <a:prstGeom prst="ellipse">
            <a:avLst/>
          </a:prstGeom>
          <a:solidFill>
            <a:schemeClr val="accent2"/>
          </a:solidFill>
          <a:ln w="12700">
            <a:solidFill>
              <a:schemeClr val="accent2"/>
            </a:solidFill>
            <a:prstDash val="solid"/>
          </a:ln>
        </p:spPr>
      </p:sp>
      <p:pic>
        <p:nvPicPr>
          <p:cNvPr id="13" name="Personal data stays hidden icon" descr="Personal data stays hidden">    </p:cNvPr>
          <p:cNvPicPr>
            <a:picLocks noChangeAspect="1"/>
          </p:cNvPicPr>
          <p:nvPr/>
        </p:nvPicPr>
        <p:blipFill>
          <a:blip r:embed="rId2"/>
          <a:stretch>
            <a:fillRect/>
          </a:stretch>
        </p:blipFill>
        <p:spPr>
          <a:xfrm>
            <a:off x="4738421" y="1858061"/>
            <a:ext cx="307238" cy="307238"/>
          </a:xfrm>
          <a:prstGeom prst="rect">
            <a:avLst/>
          </a:prstGeom>
        </p:spPr>
      </p:pic>
      <p:sp>
        <p:nvSpPr>
          <p:cNvPr id="14" name="Text 10"/>
          <p:cNvSpPr txBox="1"/>
          <p:nvPr/>
        </p:nvSpPr>
        <p:spPr>
          <a:xfrm>
            <a:off x="5349240" y="169164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Personal data stays hidden</a:t>
            </a:r>
            <a:endParaRPr lang="en-US" sz="1800" dirty="0"/>
          </a:p>
        </p:txBody>
      </p:sp>
      <p:sp>
        <p:nvSpPr>
          <p:cNvPr id="15" name="Text 11"/>
          <p:cNvSpPr txBox="1"/>
          <p:nvPr/>
        </p:nvSpPr>
        <p:spPr>
          <a:xfrm>
            <a:off x="4572000" y="2651760"/>
            <a:ext cx="3017520" cy="274320"/>
          </a:xfrm>
          <a:prstGeom prst="rect">
            <a:avLst/>
          </a:prstGeom>
          <a:noFill/>
          <a:ln/>
        </p:spPr>
        <p:txBody>
          <a:bodyPr wrap="square" lIns="0" tIns="0" rIns="0" bIns="0" rtlCol="0" anchor="ctr"/>
          <a:lstStyle/>
          <a:p>
            <a:pPr indent="0" marL="0">
              <a:buNone/>
            </a:pPr>
            <a:r>
              <a:rPr lang="en-US" sz="1200" b="1" dirty="0">
                <a:solidFill>
                  <a:schemeClr val="accent2"/>
                </a:solidFill>
              </a:rPr>
              <a:t>You type</a:t>
            </a:r>
            <a:endParaRPr lang="en-US" sz="1200" dirty="0"/>
          </a:p>
        </p:txBody>
      </p:sp>
      <p:sp>
        <p:nvSpPr>
          <p:cNvPr id="16" name="Text 12"/>
          <p:cNvSpPr txBox="1"/>
          <p:nvPr/>
        </p:nvSpPr>
        <p:spPr>
          <a:xfrm>
            <a:off x="4572000" y="2944368"/>
            <a:ext cx="3017520" cy="685800"/>
          </a:xfrm>
          <a:prstGeom prst="rect">
            <a:avLst/>
          </a:prstGeom>
          <a:noFill/>
          <a:ln/>
        </p:spPr>
        <p:txBody>
          <a:bodyPr wrap="square" lIns="0" tIns="0" rIns="0" bIns="0" rtlCol="0" anchor="t"/>
          <a:lstStyle/>
          <a:p>
            <a:pPr indent="0" marL="0">
              <a:buNone/>
            </a:pPr>
            <a:r>
              <a:rPr lang="en-US" sz="1500" i="1" dirty="0">
                <a:solidFill>
                  <a:schemeClr val="tx1"/>
                </a:solidFill>
              </a:rPr>
              <a:t>"show me customers"</a:t>
            </a:r>
            <a:endParaRPr lang="en-US" sz="1500" dirty="0"/>
          </a:p>
        </p:txBody>
      </p:sp>
      <p:sp>
        <p:nvSpPr>
          <p:cNvPr id="17" name="Text 13"/>
          <p:cNvSpPr txBox="1"/>
          <p:nvPr/>
        </p:nvSpPr>
        <p:spPr>
          <a:xfrm>
            <a:off x="4572000" y="3749040"/>
            <a:ext cx="3017520" cy="274320"/>
          </a:xfrm>
          <a:prstGeom prst="rect">
            <a:avLst/>
          </a:prstGeom>
          <a:noFill/>
          <a:ln/>
        </p:spPr>
        <p:txBody>
          <a:bodyPr wrap="square" lIns="0" tIns="0" rIns="0" bIns="0" rtlCol="0" anchor="ctr"/>
          <a:lstStyle/>
          <a:p>
            <a:pPr indent="0" marL="0">
              <a:buNone/>
            </a:pPr>
            <a:r>
              <a:rPr lang="en-US" sz="1200" b="1" dirty="0">
                <a:solidFill>
                  <a:schemeClr val="accent2"/>
                </a:solidFill>
              </a:rPr>
              <a:t>You see</a:t>
            </a:r>
            <a:endParaRPr lang="en-US" sz="1200" dirty="0"/>
          </a:p>
        </p:txBody>
      </p:sp>
      <p:sp>
        <p:nvSpPr>
          <p:cNvPr id="18" name="Text 14"/>
          <p:cNvSpPr txBox="1"/>
          <p:nvPr/>
        </p:nvSpPr>
        <p:spPr>
          <a:xfrm>
            <a:off x="4572000" y="4041648"/>
            <a:ext cx="3017520" cy="1051560"/>
          </a:xfrm>
          <a:prstGeom prst="rect">
            <a:avLst/>
          </a:prstGeom>
          <a:noFill/>
          <a:ln/>
        </p:spPr>
        <p:txBody>
          <a:bodyPr wrap="square" lIns="0" tIns="0" rIns="0" bIns="0" rtlCol="0" anchor="t"/>
          <a:lstStyle/>
          <a:p>
            <a:pPr indent="0" marL="0">
              <a:buNone/>
            </a:pPr>
            <a:r>
              <a:rPr lang="en-US" sz="1400" dirty="0">
                <a:solidFill>
                  <a:schemeClr val="tx2"/>
                </a:solidFill>
              </a:rPr>
              <a:t>id, name, country, signup_date only. Email and phone never appear, and asking for email directly is rejected as sensitive.</a:t>
            </a:r>
            <a:endParaRPr lang="en-US" sz="1400" dirty="0"/>
          </a:p>
        </p:txBody>
      </p:sp>
      <p:sp>
        <p:nvSpPr>
          <p:cNvPr id="19" name="Demo card 3"/>
          <p:cNvSpPr/>
          <p:nvPr/>
        </p:nvSpPr>
        <p:spPr>
          <a:xfrm>
            <a:off x="8046720" y="1463040"/>
            <a:ext cx="3566160" cy="3703320"/>
          </a:xfrm>
          <a:prstGeom prst="roundRect">
            <a:avLst>
              <a:gd name="adj" fmla="val 3077"/>
            </a:avLst>
          </a:prstGeom>
          <a:solidFill>
            <a:schemeClr val="bg2"/>
          </a:solidFill>
          <a:ln w="12700">
            <a:solidFill>
              <a:schemeClr val="bg2"/>
            </a:solidFill>
            <a:prstDash val="solid"/>
          </a:ln>
        </p:spPr>
      </p:sp>
      <p:sp>
        <p:nvSpPr>
          <p:cNvPr id="20" name="Add a table from a CSV circle"/>
          <p:cNvSpPr/>
          <p:nvPr/>
        </p:nvSpPr>
        <p:spPr>
          <a:xfrm>
            <a:off x="8321040" y="1691640"/>
            <a:ext cx="640080" cy="640080"/>
          </a:xfrm>
          <a:prstGeom prst="ellipse">
            <a:avLst/>
          </a:prstGeom>
          <a:solidFill>
            <a:schemeClr val="accent1"/>
          </a:solidFill>
          <a:ln w="12700">
            <a:solidFill>
              <a:schemeClr val="accent1"/>
            </a:solidFill>
            <a:prstDash val="solid"/>
          </a:ln>
        </p:spPr>
      </p:sp>
      <p:pic>
        <p:nvPicPr>
          <p:cNvPr id="21" name="Add a table from a CSV icon" descr="Add a table from a CSV">    </p:cNvPr>
          <p:cNvPicPr>
            <a:picLocks noChangeAspect="1"/>
          </p:cNvPicPr>
          <p:nvPr/>
        </p:nvPicPr>
        <p:blipFill>
          <a:blip r:embed="rId3"/>
          <a:stretch>
            <a:fillRect/>
          </a:stretch>
        </p:blipFill>
        <p:spPr>
          <a:xfrm>
            <a:off x="8487461" y="1858061"/>
            <a:ext cx="307238" cy="307238"/>
          </a:xfrm>
          <a:prstGeom prst="rect">
            <a:avLst/>
          </a:prstGeom>
        </p:spPr>
      </p:pic>
      <p:sp>
        <p:nvSpPr>
          <p:cNvPr id="22" name="Text 17"/>
          <p:cNvSpPr txBox="1"/>
          <p:nvPr/>
        </p:nvSpPr>
        <p:spPr>
          <a:xfrm>
            <a:off x="9098280" y="169164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Add a table from a CSV</a:t>
            </a:r>
            <a:endParaRPr lang="en-US" sz="1800" dirty="0"/>
          </a:p>
        </p:txBody>
      </p:sp>
      <p:sp>
        <p:nvSpPr>
          <p:cNvPr id="23" name="Text 18"/>
          <p:cNvSpPr txBox="1"/>
          <p:nvPr/>
        </p:nvSpPr>
        <p:spPr>
          <a:xfrm>
            <a:off x="8321040" y="2651760"/>
            <a:ext cx="3017520" cy="274320"/>
          </a:xfrm>
          <a:prstGeom prst="rect">
            <a:avLst/>
          </a:prstGeom>
          <a:noFill/>
          <a:ln/>
        </p:spPr>
        <p:txBody>
          <a:bodyPr wrap="square" lIns="0" tIns="0" rIns="0" bIns="0" rtlCol="0" anchor="ctr"/>
          <a:lstStyle/>
          <a:p>
            <a:pPr indent="0" marL="0">
              <a:buNone/>
            </a:pPr>
            <a:r>
              <a:rPr lang="en-US" sz="1200" b="1" dirty="0">
                <a:solidFill>
                  <a:schemeClr val="accent1"/>
                </a:solidFill>
              </a:rPr>
              <a:t>You upload</a:t>
            </a:r>
            <a:endParaRPr lang="en-US" sz="1200" dirty="0"/>
          </a:p>
        </p:txBody>
      </p:sp>
      <p:sp>
        <p:nvSpPr>
          <p:cNvPr id="24" name="Text 19"/>
          <p:cNvSpPr txBox="1"/>
          <p:nvPr/>
        </p:nvSpPr>
        <p:spPr>
          <a:xfrm>
            <a:off x="8321040" y="2944368"/>
            <a:ext cx="3017520" cy="685800"/>
          </a:xfrm>
          <a:prstGeom prst="rect">
            <a:avLst/>
          </a:prstGeom>
          <a:noFill/>
          <a:ln/>
        </p:spPr>
        <p:txBody>
          <a:bodyPr wrap="square" lIns="0" tIns="0" rIns="0" bIns="0" rtlCol="0" anchor="t"/>
          <a:lstStyle/>
          <a:p>
            <a:pPr indent="0" marL="0">
              <a:buNone/>
            </a:pPr>
            <a:r>
              <a:rPr lang="en-US" sz="1500" i="1" dirty="0">
                <a:solidFill>
                  <a:schemeClr val="tx1"/>
                </a:solidFill>
              </a:rPr>
              <a:t>suppliers.csv (3 rows, 8 columns)</a:t>
            </a:r>
            <a:endParaRPr lang="en-US" sz="1500" dirty="0"/>
          </a:p>
        </p:txBody>
      </p:sp>
      <p:sp>
        <p:nvSpPr>
          <p:cNvPr id="25" name="Text 20"/>
          <p:cNvSpPr txBox="1"/>
          <p:nvPr/>
        </p:nvSpPr>
        <p:spPr>
          <a:xfrm>
            <a:off x="8321040" y="3749040"/>
            <a:ext cx="3017520" cy="274320"/>
          </a:xfrm>
          <a:prstGeom prst="rect">
            <a:avLst/>
          </a:prstGeom>
          <a:noFill/>
          <a:ln/>
        </p:spPr>
        <p:txBody>
          <a:bodyPr wrap="square" lIns="0" tIns="0" rIns="0" bIns="0" rtlCol="0" anchor="ctr"/>
          <a:lstStyle/>
          <a:p>
            <a:pPr indent="0" marL="0">
              <a:buNone/>
            </a:pPr>
            <a:r>
              <a:rPr lang="en-US" sz="1200" b="1" dirty="0">
                <a:solidFill>
                  <a:schemeClr val="accent1"/>
                </a:solidFill>
              </a:rPr>
              <a:t>You see</a:t>
            </a:r>
            <a:endParaRPr lang="en-US" sz="1200" dirty="0"/>
          </a:p>
        </p:txBody>
      </p:sp>
      <p:sp>
        <p:nvSpPr>
          <p:cNvPr id="26" name="Text 21"/>
          <p:cNvSpPr txBox="1"/>
          <p:nvPr/>
        </p:nvSpPr>
        <p:spPr>
          <a:xfrm>
            <a:off x="8321040" y="4041648"/>
            <a:ext cx="3017520" cy="1051560"/>
          </a:xfrm>
          <a:prstGeom prst="rect">
            <a:avLst/>
          </a:prstGeom>
          <a:noFill/>
          <a:ln/>
        </p:spPr>
        <p:txBody>
          <a:bodyPr wrap="square" lIns="0" tIns="0" rIns="0" bIns="0" rtlCol="0" anchor="t"/>
          <a:lstStyle/>
          <a:p>
            <a:pPr indent="0" marL="0">
              <a:buNone/>
            </a:pPr>
            <a:r>
              <a:rPr lang="en-US" sz="1400" dirty="0">
                <a:solidFill>
                  <a:schemeClr val="tx2"/>
                </a:solidFill>
              </a:rPr>
              <a:t>rating as a number, founded as a date, zip kept as text (0123). Email and phone pre-flagged sensitive. Imported, then queryable.</a:t>
            </a:r>
            <a:endParaRPr lang="en-US" sz="1400" dirty="0"/>
          </a:p>
        </p:txBody>
      </p:sp>
      <p:sp>
        <p:nvSpPr>
          <p:cNvPr id="27" name="Verified banner"/>
          <p:cNvSpPr/>
          <p:nvPr/>
        </p:nvSpPr>
        <p:spPr>
          <a:xfrm>
            <a:off x="548640" y="5394960"/>
            <a:ext cx="11091672" cy="777240"/>
          </a:xfrm>
          <a:prstGeom prst="roundRect">
            <a:avLst>
              <a:gd name="adj" fmla="val 14118"/>
            </a:avLst>
          </a:prstGeom>
          <a:solidFill>
            <a:schemeClr val="accent2">
              <a:alpha val="12000"/>
            </a:schemeClr>
          </a:solidFill>
          <a:ln w="12700">
            <a:solidFill>
              <a:schemeClr val="accent2"/>
            </a:solidFill>
            <a:prstDash val="solid"/>
          </a:ln>
        </p:spPr>
      </p:sp>
      <p:sp>
        <p:nvSpPr>
          <p:cNvPr id="28" name="Text 23"/>
          <p:cNvSpPr txBox="1"/>
          <p:nvPr/>
        </p:nvSpPr>
        <p:spPr>
          <a:xfrm>
            <a:off x="777240" y="5394960"/>
            <a:ext cx="10607040" cy="777240"/>
          </a:xfrm>
          <a:prstGeom prst="rect">
            <a:avLst/>
          </a:prstGeom>
          <a:noFill/>
          <a:ln/>
        </p:spPr>
        <p:txBody>
          <a:bodyPr wrap="square" lIns="0" tIns="0" rIns="0" bIns="0" rtlCol="0" anchor="ctr"/>
          <a:lstStyle/>
          <a:p>
            <a:pPr indent="0" marL="0">
              <a:buNone/>
            </a:pPr>
            <a:r>
              <a:rPr lang="en-US" sz="1500" b="1" dirty="0">
                <a:solidFill>
                  <a:schemeClr val="tx1"/>
                </a:solidFill>
              </a:rPr>
              <a:t>Verified live: </a:t>
            </a:r>
            <a:pPr indent="0" marL="0">
              <a:buNone/>
            </a:pPr>
            <a:r>
              <a:rPr lang="en-US" sz="1500" dirty="0">
                <a:solidFill>
                  <a:schemeClr val="tx1"/>
                </a:solidFill>
              </a:rPr>
              <a:t>all three were run in a real browser against the running app, using a throwaway copy of the database.</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Measured results: 80% accuracy, 100% safe</a:t>
            </a:r>
            <a:endParaRPr lang="en-US" sz="3600" dirty="0"/>
          </a:p>
        </p:txBody>
      </p:sp>
      <p:sp>
        <p:nvSpPr>
          <p:cNvPr id="3" name="Text 1"/>
          <p:cNvSpPr txBox="1"/>
          <p:nvPr/>
        </p:nvSpPr>
        <p:spPr>
          <a:xfrm>
            <a:off x="548640" y="1417320"/>
            <a:ext cx="6858000" cy="365760"/>
          </a:xfrm>
          <a:prstGeom prst="rect">
            <a:avLst/>
          </a:prstGeom>
          <a:noFill/>
          <a:ln/>
        </p:spPr>
        <p:txBody>
          <a:bodyPr wrap="square" lIns="0" tIns="0" rIns="0" bIns="0" rtlCol="0" anchor="ctr"/>
          <a:lstStyle/>
          <a:p>
            <a:pPr indent="0" marL="0">
              <a:buNone/>
            </a:pPr>
            <a:r>
              <a:rPr lang="en-US" sz="1600" b="1" dirty="0">
                <a:solidFill>
                  <a:schemeClr val="tx1"/>
                </a:solidFill>
              </a:rPr>
              <a:t>Execution accuracy by query type</a:t>
            </a:r>
            <a:endParaRPr lang="en-US" sz="1600" dirty="0"/>
          </a:p>
        </p:txBody>
      </p:sp>
      <p:sp>
        <p:nvSpPr>
          <p:cNvPr id="4" name="Gridline 0"/>
          <p:cNvSpPr/>
          <p:nvPr/>
        </p:nvSpPr>
        <p:spPr>
          <a:xfrm>
            <a:off x="1234440" y="4892040"/>
            <a:ext cx="6126480" cy="0"/>
          </a:xfrm>
          <a:prstGeom prst="line">
            <a:avLst/>
          </a:prstGeom>
          <a:noFill/>
          <a:ln w="12700">
            <a:solidFill>
              <a:srgbClr val="E2E8F0"/>
            </a:solidFill>
            <a:prstDash val="solid"/>
          </a:ln>
        </p:spPr>
      </p:sp>
      <p:sp>
        <p:nvSpPr>
          <p:cNvPr id="5" name="Text 3"/>
          <p:cNvSpPr txBox="1"/>
          <p:nvPr/>
        </p:nvSpPr>
        <p:spPr>
          <a:xfrm>
            <a:off x="548640" y="4754880"/>
            <a:ext cx="548640" cy="274320"/>
          </a:xfrm>
          <a:prstGeom prst="rect">
            <a:avLst/>
          </a:prstGeom>
          <a:noFill/>
          <a:ln/>
        </p:spPr>
        <p:txBody>
          <a:bodyPr wrap="square" lIns="0" tIns="0" rIns="0" bIns="0" rtlCol="0" anchor="ctr"/>
          <a:lstStyle/>
          <a:p>
            <a:pPr algn="r" indent="0" marL="0">
              <a:buNone/>
            </a:pPr>
            <a:r>
              <a:rPr lang="en-US" sz="1200" dirty="0">
                <a:solidFill>
                  <a:schemeClr val="tx2"/>
                </a:solidFill>
              </a:rPr>
              <a:t>0%</a:t>
            </a:r>
            <a:endParaRPr lang="en-US" sz="1200" dirty="0"/>
          </a:p>
        </p:txBody>
      </p:sp>
      <p:sp>
        <p:nvSpPr>
          <p:cNvPr id="6" name="Gridline 25"/>
          <p:cNvSpPr/>
          <p:nvPr/>
        </p:nvSpPr>
        <p:spPr>
          <a:xfrm>
            <a:off x="1234440" y="4183380"/>
            <a:ext cx="6126480" cy="0"/>
          </a:xfrm>
          <a:prstGeom prst="line">
            <a:avLst/>
          </a:prstGeom>
          <a:noFill/>
          <a:ln w="12700">
            <a:solidFill>
              <a:srgbClr val="E2E8F0"/>
            </a:solidFill>
            <a:prstDash val="solid"/>
          </a:ln>
        </p:spPr>
      </p:sp>
      <p:sp>
        <p:nvSpPr>
          <p:cNvPr id="7" name="Text 5"/>
          <p:cNvSpPr txBox="1"/>
          <p:nvPr/>
        </p:nvSpPr>
        <p:spPr>
          <a:xfrm>
            <a:off x="548640" y="4046220"/>
            <a:ext cx="548640" cy="274320"/>
          </a:xfrm>
          <a:prstGeom prst="rect">
            <a:avLst/>
          </a:prstGeom>
          <a:noFill/>
          <a:ln/>
        </p:spPr>
        <p:txBody>
          <a:bodyPr wrap="square" lIns="0" tIns="0" rIns="0" bIns="0" rtlCol="0" anchor="ctr"/>
          <a:lstStyle/>
          <a:p>
            <a:pPr algn="r" indent="0" marL="0">
              <a:buNone/>
            </a:pPr>
            <a:r>
              <a:rPr lang="en-US" sz="1200" dirty="0">
                <a:solidFill>
                  <a:schemeClr val="tx2"/>
                </a:solidFill>
              </a:rPr>
              <a:t>25%</a:t>
            </a:r>
            <a:endParaRPr lang="en-US" sz="1200" dirty="0"/>
          </a:p>
        </p:txBody>
      </p:sp>
      <p:sp>
        <p:nvSpPr>
          <p:cNvPr id="8" name="Gridline 50"/>
          <p:cNvSpPr/>
          <p:nvPr/>
        </p:nvSpPr>
        <p:spPr>
          <a:xfrm>
            <a:off x="1234440" y="3474720"/>
            <a:ext cx="6126480" cy="0"/>
          </a:xfrm>
          <a:prstGeom prst="line">
            <a:avLst/>
          </a:prstGeom>
          <a:noFill/>
          <a:ln w="12700">
            <a:solidFill>
              <a:srgbClr val="E2E8F0"/>
            </a:solidFill>
            <a:prstDash val="solid"/>
          </a:ln>
        </p:spPr>
      </p:sp>
      <p:sp>
        <p:nvSpPr>
          <p:cNvPr id="9" name="Text 7"/>
          <p:cNvSpPr txBox="1"/>
          <p:nvPr/>
        </p:nvSpPr>
        <p:spPr>
          <a:xfrm>
            <a:off x="548640" y="3337560"/>
            <a:ext cx="548640" cy="274320"/>
          </a:xfrm>
          <a:prstGeom prst="rect">
            <a:avLst/>
          </a:prstGeom>
          <a:noFill/>
          <a:ln/>
        </p:spPr>
        <p:txBody>
          <a:bodyPr wrap="square" lIns="0" tIns="0" rIns="0" bIns="0" rtlCol="0" anchor="ctr"/>
          <a:lstStyle/>
          <a:p>
            <a:pPr algn="r" indent="0" marL="0">
              <a:buNone/>
            </a:pPr>
            <a:r>
              <a:rPr lang="en-US" sz="1200" dirty="0">
                <a:solidFill>
                  <a:schemeClr val="tx2"/>
                </a:solidFill>
              </a:rPr>
              <a:t>50%</a:t>
            </a:r>
            <a:endParaRPr lang="en-US" sz="1200" dirty="0"/>
          </a:p>
        </p:txBody>
      </p:sp>
      <p:sp>
        <p:nvSpPr>
          <p:cNvPr id="10" name="Gridline 75"/>
          <p:cNvSpPr/>
          <p:nvPr/>
        </p:nvSpPr>
        <p:spPr>
          <a:xfrm>
            <a:off x="1234440" y="2766060"/>
            <a:ext cx="6126480" cy="0"/>
          </a:xfrm>
          <a:prstGeom prst="line">
            <a:avLst/>
          </a:prstGeom>
          <a:noFill/>
          <a:ln w="12700">
            <a:solidFill>
              <a:srgbClr val="E2E8F0"/>
            </a:solidFill>
            <a:prstDash val="solid"/>
          </a:ln>
        </p:spPr>
      </p:sp>
      <p:sp>
        <p:nvSpPr>
          <p:cNvPr id="11" name="Text 9"/>
          <p:cNvSpPr txBox="1"/>
          <p:nvPr/>
        </p:nvSpPr>
        <p:spPr>
          <a:xfrm>
            <a:off x="548640" y="2628900"/>
            <a:ext cx="548640" cy="274320"/>
          </a:xfrm>
          <a:prstGeom prst="rect">
            <a:avLst/>
          </a:prstGeom>
          <a:noFill/>
          <a:ln/>
        </p:spPr>
        <p:txBody>
          <a:bodyPr wrap="square" lIns="0" tIns="0" rIns="0" bIns="0" rtlCol="0" anchor="ctr"/>
          <a:lstStyle/>
          <a:p>
            <a:pPr algn="r" indent="0" marL="0">
              <a:buNone/>
            </a:pPr>
            <a:r>
              <a:rPr lang="en-US" sz="1200" dirty="0">
                <a:solidFill>
                  <a:schemeClr val="tx2"/>
                </a:solidFill>
              </a:rPr>
              <a:t>75%</a:t>
            </a:r>
            <a:endParaRPr lang="en-US" sz="1200" dirty="0"/>
          </a:p>
        </p:txBody>
      </p:sp>
      <p:sp>
        <p:nvSpPr>
          <p:cNvPr id="12" name="Gridline 100"/>
          <p:cNvSpPr/>
          <p:nvPr/>
        </p:nvSpPr>
        <p:spPr>
          <a:xfrm>
            <a:off x="1234440" y="2057400"/>
            <a:ext cx="6126480" cy="0"/>
          </a:xfrm>
          <a:prstGeom prst="line">
            <a:avLst/>
          </a:prstGeom>
          <a:noFill/>
          <a:ln w="12700">
            <a:solidFill>
              <a:srgbClr val="E2E8F0"/>
            </a:solidFill>
            <a:prstDash val="solid"/>
          </a:ln>
        </p:spPr>
      </p:sp>
      <p:sp>
        <p:nvSpPr>
          <p:cNvPr id="13" name="Text 11"/>
          <p:cNvSpPr txBox="1"/>
          <p:nvPr/>
        </p:nvSpPr>
        <p:spPr>
          <a:xfrm>
            <a:off x="548640" y="1920240"/>
            <a:ext cx="548640" cy="274320"/>
          </a:xfrm>
          <a:prstGeom prst="rect">
            <a:avLst/>
          </a:prstGeom>
          <a:noFill/>
          <a:ln/>
        </p:spPr>
        <p:txBody>
          <a:bodyPr wrap="square" lIns="0" tIns="0" rIns="0" bIns="0" rtlCol="0" anchor="ctr"/>
          <a:lstStyle/>
          <a:p>
            <a:pPr algn="r" indent="0" marL="0">
              <a:buNone/>
            </a:pPr>
            <a:r>
              <a:rPr lang="en-US" sz="1200" dirty="0">
                <a:solidFill>
                  <a:schemeClr val="tx2"/>
                </a:solidFill>
              </a:rPr>
              <a:t>100%</a:t>
            </a:r>
            <a:endParaRPr lang="en-US" sz="1200" dirty="0"/>
          </a:p>
        </p:txBody>
      </p:sp>
      <p:sp>
        <p:nvSpPr>
          <p:cNvPr id="14" name="Simple Run 1 bar"/>
          <p:cNvSpPr/>
          <p:nvPr/>
        </p:nvSpPr>
        <p:spPr>
          <a:xfrm>
            <a:off x="1396746" y="2624328"/>
            <a:ext cx="566928" cy="2267712"/>
          </a:xfrm>
          <a:prstGeom prst="rect">
            <a:avLst/>
          </a:prstGeom>
          <a:solidFill>
            <a:schemeClr val="tx2">
              <a:alpha val="55000"/>
            </a:schemeClr>
          </a:solidFill>
          <a:ln w="12700">
            <a:solidFill>
              <a:schemeClr val="tx2">
                <a:alpha val="55000"/>
              </a:schemeClr>
            </a:solidFill>
            <a:prstDash val="solid"/>
          </a:ln>
        </p:spPr>
      </p:sp>
      <p:sp>
        <p:nvSpPr>
          <p:cNvPr id="15" name="Text 13"/>
          <p:cNvSpPr txBox="1"/>
          <p:nvPr/>
        </p:nvSpPr>
        <p:spPr>
          <a:xfrm>
            <a:off x="1305306" y="2313432"/>
            <a:ext cx="749808" cy="274320"/>
          </a:xfrm>
          <a:prstGeom prst="rect">
            <a:avLst/>
          </a:prstGeom>
          <a:noFill/>
          <a:ln/>
        </p:spPr>
        <p:txBody>
          <a:bodyPr wrap="square" lIns="0" tIns="0" rIns="0" bIns="0" rtlCol="0" anchor="ctr"/>
          <a:lstStyle/>
          <a:p>
            <a:pPr algn="ctr" indent="0" marL="0">
              <a:buNone/>
            </a:pPr>
            <a:r>
              <a:rPr lang="en-US" sz="1300" b="1" dirty="0">
                <a:solidFill>
                  <a:schemeClr val="tx1"/>
                </a:solidFill>
              </a:rPr>
              <a:t>80%</a:t>
            </a:r>
            <a:endParaRPr lang="en-US" sz="1300" dirty="0"/>
          </a:p>
        </p:txBody>
      </p:sp>
      <p:sp>
        <p:nvSpPr>
          <p:cNvPr id="16" name="Simple Run 2 bar"/>
          <p:cNvSpPr/>
          <p:nvPr/>
        </p:nvSpPr>
        <p:spPr>
          <a:xfrm>
            <a:off x="2036826" y="2057400"/>
            <a:ext cx="566928" cy="2834640"/>
          </a:xfrm>
          <a:prstGeom prst="rect">
            <a:avLst/>
          </a:prstGeom>
          <a:solidFill>
            <a:schemeClr val="accent1"/>
          </a:solidFill>
          <a:ln w="12700">
            <a:solidFill>
              <a:schemeClr val="accent1"/>
            </a:solidFill>
            <a:prstDash val="solid"/>
          </a:ln>
        </p:spPr>
      </p:sp>
      <p:sp>
        <p:nvSpPr>
          <p:cNvPr id="17" name="Text 15"/>
          <p:cNvSpPr txBox="1"/>
          <p:nvPr/>
        </p:nvSpPr>
        <p:spPr>
          <a:xfrm>
            <a:off x="1945386" y="1746504"/>
            <a:ext cx="749808" cy="274320"/>
          </a:xfrm>
          <a:prstGeom prst="rect">
            <a:avLst/>
          </a:prstGeom>
          <a:noFill/>
          <a:ln/>
        </p:spPr>
        <p:txBody>
          <a:bodyPr wrap="square" lIns="0" tIns="0" rIns="0" bIns="0" rtlCol="0" anchor="ctr"/>
          <a:lstStyle/>
          <a:p>
            <a:pPr algn="ctr" indent="0" marL="0">
              <a:buNone/>
            </a:pPr>
            <a:r>
              <a:rPr lang="en-US" sz="1300" b="1" dirty="0">
                <a:solidFill>
                  <a:schemeClr val="tx1"/>
                </a:solidFill>
              </a:rPr>
              <a:t>100%</a:t>
            </a:r>
            <a:endParaRPr lang="en-US" sz="1300" dirty="0"/>
          </a:p>
        </p:txBody>
      </p:sp>
      <p:sp>
        <p:nvSpPr>
          <p:cNvPr id="18" name="Text 16"/>
          <p:cNvSpPr txBox="1"/>
          <p:nvPr/>
        </p:nvSpPr>
        <p:spPr>
          <a:xfrm>
            <a:off x="1234440" y="4983480"/>
            <a:ext cx="1531620" cy="365760"/>
          </a:xfrm>
          <a:prstGeom prst="rect">
            <a:avLst/>
          </a:prstGeom>
          <a:noFill/>
          <a:ln/>
        </p:spPr>
        <p:txBody>
          <a:bodyPr wrap="square" lIns="0" tIns="0" rIns="0" bIns="0" rtlCol="0" anchor="ctr"/>
          <a:lstStyle/>
          <a:p>
            <a:pPr algn="ctr" indent="0" marL="0">
              <a:buNone/>
            </a:pPr>
            <a:r>
              <a:rPr lang="en-US" sz="1400" dirty="0">
                <a:solidFill>
                  <a:schemeClr val="tx1"/>
                </a:solidFill>
              </a:rPr>
              <a:t>Simple</a:t>
            </a:r>
            <a:endParaRPr lang="en-US" sz="1400" dirty="0"/>
          </a:p>
        </p:txBody>
      </p:sp>
      <p:sp>
        <p:nvSpPr>
          <p:cNvPr id="19" name="Aggregate Run 1 bar"/>
          <p:cNvSpPr/>
          <p:nvPr/>
        </p:nvSpPr>
        <p:spPr>
          <a:xfrm>
            <a:off x="2928366" y="2879446"/>
            <a:ext cx="566928" cy="2012594"/>
          </a:xfrm>
          <a:prstGeom prst="rect">
            <a:avLst/>
          </a:prstGeom>
          <a:solidFill>
            <a:schemeClr val="tx2">
              <a:alpha val="55000"/>
            </a:schemeClr>
          </a:solidFill>
          <a:ln w="12700">
            <a:solidFill>
              <a:schemeClr val="tx2">
                <a:alpha val="55000"/>
              </a:schemeClr>
            </a:solidFill>
            <a:prstDash val="solid"/>
          </a:ln>
        </p:spPr>
      </p:sp>
      <p:sp>
        <p:nvSpPr>
          <p:cNvPr id="20" name="Text 18"/>
          <p:cNvSpPr txBox="1"/>
          <p:nvPr/>
        </p:nvSpPr>
        <p:spPr>
          <a:xfrm>
            <a:off x="2836926" y="2568550"/>
            <a:ext cx="749808" cy="274320"/>
          </a:xfrm>
          <a:prstGeom prst="rect">
            <a:avLst/>
          </a:prstGeom>
          <a:noFill/>
          <a:ln/>
        </p:spPr>
        <p:txBody>
          <a:bodyPr wrap="square" lIns="0" tIns="0" rIns="0" bIns="0" rtlCol="0" anchor="ctr"/>
          <a:lstStyle/>
          <a:p>
            <a:pPr algn="ctr" indent="0" marL="0">
              <a:buNone/>
            </a:pPr>
            <a:r>
              <a:rPr lang="en-US" sz="1300" b="1" dirty="0">
                <a:solidFill>
                  <a:schemeClr val="tx1"/>
                </a:solidFill>
              </a:rPr>
              <a:t>71%</a:t>
            </a:r>
            <a:endParaRPr lang="en-US" sz="1300" dirty="0"/>
          </a:p>
        </p:txBody>
      </p:sp>
      <p:sp>
        <p:nvSpPr>
          <p:cNvPr id="21" name="Aggregate Run 2 bar"/>
          <p:cNvSpPr/>
          <p:nvPr/>
        </p:nvSpPr>
        <p:spPr>
          <a:xfrm>
            <a:off x="3568446" y="2879446"/>
            <a:ext cx="566928" cy="2012594"/>
          </a:xfrm>
          <a:prstGeom prst="rect">
            <a:avLst/>
          </a:prstGeom>
          <a:solidFill>
            <a:schemeClr val="accent1"/>
          </a:solidFill>
          <a:ln w="12700">
            <a:solidFill>
              <a:schemeClr val="accent1"/>
            </a:solidFill>
            <a:prstDash val="solid"/>
          </a:ln>
        </p:spPr>
      </p:sp>
      <p:sp>
        <p:nvSpPr>
          <p:cNvPr id="22" name="Text 20"/>
          <p:cNvSpPr txBox="1"/>
          <p:nvPr/>
        </p:nvSpPr>
        <p:spPr>
          <a:xfrm>
            <a:off x="3477006" y="2568550"/>
            <a:ext cx="749808" cy="274320"/>
          </a:xfrm>
          <a:prstGeom prst="rect">
            <a:avLst/>
          </a:prstGeom>
          <a:noFill/>
          <a:ln/>
        </p:spPr>
        <p:txBody>
          <a:bodyPr wrap="square" lIns="0" tIns="0" rIns="0" bIns="0" rtlCol="0" anchor="ctr"/>
          <a:lstStyle/>
          <a:p>
            <a:pPr algn="ctr" indent="0" marL="0">
              <a:buNone/>
            </a:pPr>
            <a:r>
              <a:rPr lang="en-US" sz="1300" b="1" dirty="0">
                <a:solidFill>
                  <a:schemeClr val="tx1"/>
                </a:solidFill>
              </a:rPr>
              <a:t>71%</a:t>
            </a:r>
            <a:endParaRPr lang="en-US" sz="1300" dirty="0"/>
          </a:p>
        </p:txBody>
      </p:sp>
      <p:sp>
        <p:nvSpPr>
          <p:cNvPr id="23" name="Text 21"/>
          <p:cNvSpPr txBox="1"/>
          <p:nvPr/>
        </p:nvSpPr>
        <p:spPr>
          <a:xfrm>
            <a:off x="2766060" y="4983480"/>
            <a:ext cx="1531620" cy="365760"/>
          </a:xfrm>
          <a:prstGeom prst="rect">
            <a:avLst/>
          </a:prstGeom>
          <a:noFill/>
          <a:ln/>
        </p:spPr>
        <p:txBody>
          <a:bodyPr wrap="square" lIns="0" tIns="0" rIns="0" bIns="0" rtlCol="0" anchor="ctr"/>
          <a:lstStyle/>
          <a:p>
            <a:pPr algn="ctr" indent="0" marL="0">
              <a:buNone/>
            </a:pPr>
            <a:r>
              <a:rPr lang="en-US" sz="1400" dirty="0">
                <a:solidFill>
                  <a:schemeClr val="tx1"/>
                </a:solidFill>
              </a:rPr>
              <a:t>Aggregate</a:t>
            </a:r>
            <a:endParaRPr lang="en-US" sz="1400" dirty="0"/>
          </a:p>
        </p:txBody>
      </p:sp>
      <p:sp>
        <p:nvSpPr>
          <p:cNvPr id="24" name="Join Run 1 bar"/>
          <p:cNvSpPr/>
          <p:nvPr/>
        </p:nvSpPr>
        <p:spPr>
          <a:xfrm>
            <a:off x="4459986" y="2992831"/>
            <a:ext cx="566928" cy="1899209"/>
          </a:xfrm>
          <a:prstGeom prst="rect">
            <a:avLst/>
          </a:prstGeom>
          <a:solidFill>
            <a:schemeClr val="tx2">
              <a:alpha val="55000"/>
            </a:schemeClr>
          </a:solidFill>
          <a:ln w="12700">
            <a:solidFill>
              <a:schemeClr val="tx2">
                <a:alpha val="55000"/>
              </a:schemeClr>
            </a:solidFill>
            <a:prstDash val="solid"/>
          </a:ln>
        </p:spPr>
      </p:sp>
      <p:sp>
        <p:nvSpPr>
          <p:cNvPr id="25" name="Text 23"/>
          <p:cNvSpPr txBox="1"/>
          <p:nvPr/>
        </p:nvSpPr>
        <p:spPr>
          <a:xfrm>
            <a:off x="4368546" y="2681935"/>
            <a:ext cx="749808" cy="274320"/>
          </a:xfrm>
          <a:prstGeom prst="rect">
            <a:avLst/>
          </a:prstGeom>
          <a:noFill/>
          <a:ln/>
        </p:spPr>
        <p:txBody>
          <a:bodyPr wrap="square" lIns="0" tIns="0" rIns="0" bIns="0" rtlCol="0" anchor="ctr"/>
          <a:lstStyle/>
          <a:p>
            <a:pPr algn="ctr" indent="0" marL="0">
              <a:buNone/>
            </a:pPr>
            <a:r>
              <a:rPr lang="en-US" sz="1300" b="1" dirty="0">
                <a:solidFill>
                  <a:schemeClr val="tx1"/>
                </a:solidFill>
              </a:rPr>
              <a:t>67%</a:t>
            </a:r>
            <a:endParaRPr lang="en-US" sz="1300" dirty="0"/>
          </a:p>
        </p:txBody>
      </p:sp>
      <p:sp>
        <p:nvSpPr>
          <p:cNvPr id="26" name="Join Run 2 bar"/>
          <p:cNvSpPr/>
          <p:nvPr/>
        </p:nvSpPr>
        <p:spPr>
          <a:xfrm>
            <a:off x="5100066" y="2539289"/>
            <a:ext cx="566928" cy="2352751"/>
          </a:xfrm>
          <a:prstGeom prst="rect">
            <a:avLst/>
          </a:prstGeom>
          <a:solidFill>
            <a:schemeClr val="accent1"/>
          </a:solidFill>
          <a:ln w="12700">
            <a:solidFill>
              <a:schemeClr val="accent1"/>
            </a:solidFill>
            <a:prstDash val="solid"/>
          </a:ln>
        </p:spPr>
      </p:sp>
      <p:sp>
        <p:nvSpPr>
          <p:cNvPr id="27" name="Text 25"/>
          <p:cNvSpPr txBox="1"/>
          <p:nvPr/>
        </p:nvSpPr>
        <p:spPr>
          <a:xfrm>
            <a:off x="5008626" y="2228393"/>
            <a:ext cx="749808" cy="274320"/>
          </a:xfrm>
          <a:prstGeom prst="rect">
            <a:avLst/>
          </a:prstGeom>
          <a:noFill/>
          <a:ln/>
        </p:spPr>
        <p:txBody>
          <a:bodyPr wrap="square" lIns="0" tIns="0" rIns="0" bIns="0" rtlCol="0" anchor="ctr"/>
          <a:lstStyle/>
          <a:p>
            <a:pPr algn="ctr" indent="0" marL="0">
              <a:buNone/>
            </a:pPr>
            <a:r>
              <a:rPr lang="en-US" sz="1300" b="1" dirty="0">
                <a:solidFill>
                  <a:schemeClr val="tx1"/>
                </a:solidFill>
              </a:rPr>
              <a:t>83%</a:t>
            </a:r>
            <a:endParaRPr lang="en-US" sz="1300" dirty="0"/>
          </a:p>
        </p:txBody>
      </p:sp>
      <p:sp>
        <p:nvSpPr>
          <p:cNvPr id="28" name="Text 26"/>
          <p:cNvSpPr txBox="1"/>
          <p:nvPr/>
        </p:nvSpPr>
        <p:spPr>
          <a:xfrm>
            <a:off x="4297680" y="4983480"/>
            <a:ext cx="1531620" cy="365760"/>
          </a:xfrm>
          <a:prstGeom prst="rect">
            <a:avLst/>
          </a:prstGeom>
          <a:noFill/>
          <a:ln/>
        </p:spPr>
        <p:txBody>
          <a:bodyPr wrap="square" lIns="0" tIns="0" rIns="0" bIns="0" rtlCol="0" anchor="ctr"/>
          <a:lstStyle/>
          <a:p>
            <a:pPr algn="ctr" indent="0" marL="0">
              <a:buNone/>
            </a:pPr>
            <a:r>
              <a:rPr lang="en-US" sz="1400" dirty="0">
                <a:solidFill>
                  <a:schemeClr val="tx1"/>
                </a:solidFill>
              </a:rPr>
              <a:t>Join</a:t>
            </a:r>
            <a:endParaRPr lang="en-US" sz="1400" dirty="0"/>
          </a:p>
        </p:txBody>
      </p:sp>
      <p:sp>
        <p:nvSpPr>
          <p:cNvPr id="29" name="Temporal Run 1 bar"/>
          <p:cNvSpPr/>
          <p:nvPr/>
        </p:nvSpPr>
        <p:spPr>
          <a:xfrm>
            <a:off x="5991606" y="2879446"/>
            <a:ext cx="566928" cy="2012594"/>
          </a:xfrm>
          <a:prstGeom prst="rect">
            <a:avLst/>
          </a:prstGeom>
          <a:solidFill>
            <a:schemeClr val="tx2">
              <a:alpha val="55000"/>
            </a:schemeClr>
          </a:solidFill>
          <a:ln w="12700">
            <a:solidFill>
              <a:schemeClr val="tx2">
                <a:alpha val="55000"/>
              </a:schemeClr>
            </a:solidFill>
            <a:prstDash val="solid"/>
          </a:ln>
        </p:spPr>
      </p:sp>
      <p:sp>
        <p:nvSpPr>
          <p:cNvPr id="30" name="Text 28"/>
          <p:cNvSpPr txBox="1"/>
          <p:nvPr/>
        </p:nvSpPr>
        <p:spPr>
          <a:xfrm>
            <a:off x="5900166" y="2568550"/>
            <a:ext cx="749808" cy="274320"/>
          </a:xfrm>
          <a:prstGeom prst="rect">
            <a:avLst/>
          </a:prstGeom>
          <a:noFill/>
          <a:ln/>
        </p:spPr>
        <p:txBody>
          <a:bodyPr wrap="square" lIns="0" tIns="0" rIns="0" bIns="0" rtlCol="0" anchor="ctr"/>
          <a:lstStyle/>
          <a:p>
            <a:pPr algn="ctr" indent="0" marL="0">
              <a:buNone/>
            </a:pPr>
            <a:r>
              <a:rPr lang="en-US" sz="1300" b="1" dirty="0">
                <a:solidFill>
                  <a:schemeClr val="tx1"/>
                </a:solidFill>
              </a:rPr>
              <a:t>71%</a:t>
            </a:r>
            <a:endParaRPr lang="en-US" sz="1300" dirty="0"/>
          </a:p>
        </p:txBody>
      </p:sp>
      <p:sp>
        <p:nvSpPr>
          <p:cNvPr id="31" name="Temporal Run 2 bar"/>
          <p:cNvSpPr/>
          <p:nvPr/>
        </p:nvSpPr>
        <p:spPr>
          <a:xfrm>
            <a:off x="6631686" y="2879446"/>
            <a:ext cx="566928" cy="2012594"/>
          </a:xfrm>
          <a:prstGeom prst="rect">
            <a:avLst/>
          </a:prstGeom>
          <a:solidFill>
            <a:schemeClr val="accent1"/>
          </a:solidFill>
          <a:ln w="12700">
            <a:solidFill>
              <a:schemeClr val="accent1"/>
            </a:solidFill>
            <a:prstDash val="solid"/>
          </a:ln>
        </p:spPr>
      </p:sp>
      <p:sp>
        <p:nvSpPr>
          <p:cNvPr id="32" name="Text 30"/>
          <p:cNvSpPr txBox="1"/>
          <p:nvPr/>
        </p:nvSpPr>
        <p:spPr>
          <a:xfrm>
            <a:off x="6540246" y="2568550"/>
            <a:ext cx="749808" cy="274320"/>
          </a:xfrm>
          <a:prstGeom prst="rect">
            <a:avLst/>
          </a:prstGeom>
          <a:noFill/>
          <a:ln/>
        </p:spPr>
        <p:txBody>
          <a:bodyPr wrap="square" lIns="0" tIns="0" rIns="0" bIns="0" rtlCol="0" anchor="ctr"/>
          <a:lstStyle/>
          <a:p>
            <a:pPr algn="ctr" indent="0" marL="0">
              <a:buNone/>
            </a:pPr>
            <a:r>
              <a:rPr lang="en-US" sz="1300" b="1" dirty="0">
                <a:solidFill>
                  <a:schemeClr val="tx1"/>
                </a:solidFill>
              </a:rPr>
              <a:t>71%</a:t>
            </a:r>
            <a:endParaRPr lang="en-US" sz="1300" dirty="0"/>
          </a:p>
        </p:txBody>
      </p:sp>
      <p:sp>
        <p:nvSpPr>
          <p:cNvPr id="33" name="Text 31"/>
          <p:cNvSpPr txBox="1"/>
          <p:nvPr/>
        </p:nvSpPr>
        <p:spPr>
          <a:xfrm>
            <a:off x="5829300" y="4983480"/>
            <a:ext cx="1531620" cy="365760"/>
          </a:xfrm>
          <a:prstGeom prst="rect">
            <a:avLst/>
          </a:prstGeom>
          <a:noFill/>
          <a:ln/>
        </p:spPr>
        <p:txBody>
          <a:bodyPr wrap="square" lIns="0" tIns="0" rIns="0" bIns="0" rtlCol="0" anchor="ctr"/>
          <a:lstStyle/>
          <a:p>
            <a:pPr algn="ctr" indent="0" marL="0">
              <a:buNone/>
            </a:pPr>
            <a:r>
              <a:rPr lang="en-US" sz="1400" dirty="0">
                <a:solidFill>
                  <a:schemeClr val="tx1"/>
                </a:solidFill>
              </a:rPr>
              <a:t>Temporal</a:t>
            </a:r>
            <a:endParaRPr lang="en-US" sz="1400" dirty="0"/>
          </a:p>
        </p:txBody>
      </p:sp>
      <p:sp>
        <p:nvSpPr>
          <p:cNvPr id="34" name="Legend run 1"/>
          <p:cNvSpPr/>
          <p:nvPr/>
        </p:nvSpPr>
        <p:spPr>
          <a:xfrm>
            <a:off x="1828800" y="5468112"/>
            <a:ext cx="201168" cy="201168"/>
          </a:xfrm>
          <a:prstGeom prst="rect">
            <a:avLst/>
          </a:prstGeom>
          <a:solidFill>
            <a:schemeClr val="tx2">
              <a:alpha val="55000"/>
            </a:schemeClr>
          </a:solidFill>
          <a:ln w="12700">
            <a:solidFill>
              <a:schemeClr val="tx2">
                <a:alpha val="55000"/>
              </a:schemeClr>
            </a:solidFill>
            <a:prstDash val="solid"/>
          </a:ln>
        </p:spPr>
      </p:sp>
      <p:sp>
        <p:nvSpPr>
          <p:cNvPr id="35" name="Text 33"/>
          <p:cNvSpPr txBox="1"/>
          <p:nvPr/>
        </p:nvSpPr>
        <p:spPr>
          <a:xfrm>
            <a:off x="2103120" y="5394960"/>
            <a:ext cx="1828800" cy="347472"/>
          </a:xfrm>
          <a:prstGeom prst="rect">
            <a:avLst/>
          </a:prstGeom>
          <a:noFill/>
          <a:ln/>
        </p:spPr>
        <p:txBody>
          <a:bodyPr wrap="square" lIns="0" tIns="0" rIns="0" bIns="0" rtlCol="0" anchor="ctr"/>
          <a:lstStyle/>
          <a:p>
            <a:pPr indent="0" marL="0">
              <a:buNone/>
            </a:pPr>
            <a:r>
              <a:rPr lang="en-US" sz="1300" dirty="0">
                <a:solidFill>
                  <a:schemeClr val="tx2"/>
                </a:solidFill>
              </a:rPr>
              <a:t>Run 1 (baseline)</a:t>
            </a:r>
            <a:endParaRPr lang="en-US" sz="1300" dirty="0"/>
          </a:p>
        </p:txBody>
      </p:sp>
      <p:sp>
        <p:nvSpPr>
          <p:cNvPr id="36" name="Legend run 2"/>
          <p:cNvSpPr/>
          <p:nvPr/>
        </p:nvSpPr>
        <p:spPr>
          <a:xfrm>
            <a:off x="4206240" y="5468112"/>
            <a:ext cx="201168" cy="201168"/>
          </a:xfrm>
          <a:prstGeom prst="rect">
            <a:avLst/>
          </a:prstGeom>
          <a:solidFill>
            <a:schemeClr val="accent1"/>
          </a:solidFill>
          <a:ln w="12700">
            <a:solidFill>
              <a:schemeClr val="accent1"/>
            </a:solidFill>
            <a:prstDash val="solid"/>
          </a:ln>
        </p:spPr>
      </p:sp>
      <p:sp>
        <p:nvSpPr>
          <p:cNvPr id="37" name="Text 35"/>
          <p:cNvSpPr txBox="1"/>
          <p:nvPr/>
        </p:nvSpPr>
        <p:spPr>
          <a:xfrm>
            <a:off x="4480560" y="5394960"/>
            <a:ext cx="2926080" cy="347472"/>
          </a:xfrm>
          <a:prstGeom prst="rect">
            <a:avLst/>
          </a:prstGeom>
          <a:noFill/>
          <a:ln/>
        </p:spPr>
        <p:txBody>
          <a:bodyPr wrap="square" lIns="0" tIns="0" rIns="0" bIns="0" rtlCol="0" anchor="ctr"/>
          <a:lstStyle/>
          <a:p>
            <a:pPr indent="0" marL="0">
              <a:buNone/>
            </a:pPr>
            <a:r>
              <a:rPr lang="en-US" sz="1300" dirty="0">
                <a:solidFill>
                  <a:schemeClr val="tx2"/>
                </a:solidFill>
              </a:rPr>
              <a:t>Run 2 (after one prompt-note fix)</a:t>
            </a:r>
            <a:endParaRPr lang="en-US" sz="1300" dirty="0"/>
          </a:p>
        </p:txBody>
      </p:sp>
      <p:sp>
        <p:nvSpPr>
          <p:cNvPr id="38" name="Stat accuracy"/>
          <p:cNvSpPr/>
          <p:nvPr/>
        </p:nvSpPr>
        <p:spPr>
          <a:xfrm>
            <a:off x="7680960" y="1417320"/>
            <a:ext cx="3959352" cy="1920240"/>
          </a:xfrm>
          <a:prstGeom prst="roundRect">
            <a:avLst>
              <a:gd name="adj" fmla="val 5714"/>
            </a:avLst>
          </a:prstGeom>
          <a:solidFill>
            <a:schemeClr val="bg2"/>
          </a:solidFill>
          <a:ln w="12700">
            <a:solidFill>
              <a:schemeClr val="bg2"/>
            </a:solidFill>
            <a:prstDash val="solid"/>
          </a:ln>
        </p:spPr>
      </p:sp>
      <p:sp>
        <p:nvSpPr>
          <p:cNvPr id="39" name="Text 37"/>
          <p:cNvSpPr txBox="1"/>
          <p:nvPr/>
        </p:nvSpPr>
        <p:spPr>
          <a:xfrm>
            <a:off x="7909560" y="1554480"/>
            <a:ext cx="3566160" cy="731520"/>
          </a:xfrm>
          <a:prstGeom prst="rect">
            <a:avLst/>
          </a:prstGeom>
          <a:noFill/>
          <a:ln/>
        </p:spPr>
        <p:txBody>
          <a:bodyPr wrap="square" lIns="0" tIns="0" rIns="0" bIns="0" rtlCol="0" anchor="ctr"/>
          <a:lstStyle/>
          <a:p>
            <a:pPr indent="0" marL="0">
              <a:buNone/>
            </a:pPr>
            <a:r>
              <a:rPr lang="en-US" sz="3600" b="1" dirty="0">
                <a:solidFill>
                  <a:schemeClr val="accent1"/>
                </a:solidFill>
              </a:rPr>
              <a:t>72% to 80%</a:t>
            </a:r>
            <a:endParaRPr lang="en-US" sz="3600" dirty="0"/>
          </a:p>
        </p:txBody>
      </p:sp>
      <p:sp>
        <p:nvSpPr>
          <p:cNvPr id="40" name="Text 38"/>
          <p:cNvSpPr txBox="1"/>
          <p:nvPr/>
        </p:nvSpPr>
        <p:spPr>
          <a:xfrm>
            <a:off x="7909560" y="2286000"/>
            <a:ext cx="3566160" cy="960120"/>
          </a:xfrm>
          <a:prstGeom prst="rect">
            <a:avLst/>
          </a:prstGeom>
          <a:noFill/>
          <a:ln/>
        </p:spPr>
        <p:txBody>
          <a:bodyPr wrap="square" lIns="0" tIns="0" rIns="0" bIns="0" rtlCol="0" anchor="t"/>
          <a:lstStyle/>
          <a:p>
            <a:pPr indent="0" marL="0">
              <a:buNone/>
            </a:pPr>
            <a:r>
              <a:rPr lang="en-US" sz="1400" dirty="0">
                <a:solidFill>
                  <a:schemeClr val="tx2"/>
                </a:solidFill>
              </a:rPr>
              <a:t>execution accuracy, 18 to 20 of 25 questions, after tightening one note about cancelled orders</a:t>
            </a:r>
            <a:endParaRPr lang="en-US" sz="1400" dirty="0"/>
          </a:p>
        </p:txBody>
      </p:sp>
      <p:sp>
        <p:nvSpPr>
          <p:cNvPr id="41" name="Stat guardrails"/>
          <p:cNvSpPr/>
          <p:nvPr/>
        </p:nvSpPr>
        <p:spPr>
          <a:xfrm>
            <a:off x="7680960" y="3520440"/>
            <a:ext cx="3959352" cy="1920240"/>
          </a:xfrm>
          <a:prstGeom prst="roundRect">
            <a:avLst>
              <a:gd name="adj" fmla="val 5714"/>
            </a:avLst>
          </a:prstGeom>
          <a:solidFill>
            <a:schemeClr val="bg2"/>
          </a:solidFill>
          <a:ln w="12700">
            <a:solidFill>
              <a:schemeClr val="bg2"/>
            </a:solidFill>
            <a:prstDash val="solid"/>
          </a:ln>
        </p:spPr>
      </p:sp>
      <p:sp>
        <p:nvSpPr>
          <p:cNvPr id="42" name="Text 40"/>
          <p:cNvSpPr txBox="1"/>
          <p:nvPr/>
        </p:nvSpPr>
        <p:spPr>
          <a:xfrm>
            <a:off x="7909560" y="3657600"/>
            <a:ext cx="3566160" cy="731520"/>
          </a:xfrm>
          <a:prstGeom prst="rect">
            <a:avLst/>
          </a:prstGeom>
          <a:noFill/>
          <a:ln/>
        </p:spPr>
        <p:txBody>
          <a:bodyPr wrap="square" lIns="0" tIns="0" rIns="0" bIns="0" rtlCol="0" anchor="ctr"/>
          <a:lstStyle/>
          <a:p>
            <a:pPr indent="0" marL="0">
              <a:buNone/>
            </a:pPr>
            <a:r>
              <a:rPr lang="en-US" sz="3600" b="1" dirty="0">
                <a:solidFill>
                  <a:schemeClr val="accent2"/>
                </a:solidFill>
              </a:rPr>
              <a:t>28 / 28</a:t>
            </a:r>
            <a:endParaRPr lang="en-US" sz="3600" dirty="0"/>
          </a:p>
        </p:txBody>
      </p:sp>
      <p:sp>
        <p:nvSpPr>
          <p:cNvPr id="43" name="Text 41"/>
          <p:cNvSpPr txBox="1"/>
          <p:nvPr/>
        </p:nvSpPr>
        <p:spPr>
          <a:xfrm>
            <a:off x="7909560" y="4389120"/>
            <a:ext cx="3566160" cy="960120"/>
          </a:xfrm>
          <a:prstGeom prst="rect">
            <a:avLst/>
          </a:prstGeom>
          <a:noFill/>
          <a:ln/>
        </p:spPr>
        <p:txBody>
          <a:bodyPr wrap="square" lIns="0" tIns="0" rIns="0" bIns="0" rtlCol="0" anchor="t"/>
          <a:lstStyle/>
          <a:p>
            <a:pPr indent="0" marL="0">
              <a:buNone/>
            </a:pPr>
            <a:r>
              <a:rPr lang="en-US" sz="1400" dirty="0">
                <a:solidFill>
                  <a:schemeClr val="tx2"/>
                </a:solidFill>
              </a:rPr>
              <a:t>attacks blocked: direct SQL, stacked queries, obfuscation, injections, PII. Database unchanged.</a:t>
            </a:r>
            <a:endParaRPr lang="en-US" sz="1400" dirty="0"/>
          </a:p>
        </p:txBody>
      </p:sp>
      <p:sp>
        <p:nvSpPr>
          <p:cNvPr id="44" name="Text 42"/>
          <p:cNvSpPr txBox="1"/>
          <p:nvPr/>
        </p:nvSpPr>
        <p:spPr>
          <a:xfrm>
            <a:off x="548640" y="5852160"/>
            <a:ext cx="11091672" cy="502920"/>
          </a:xfrm>
          <a:prstGeom prst="rect">
            <a:avLst/>
          </a:prstGeom>
          <a:noFill/>
          <a:ln/>
        </p:spPr>
        <p:txBody>
          <a:bodyPr wrap="square" lIns="0" tIns="0" rIns="0" bIns="0" rtlCol="0" anchor="t"/>
          <a:lstStyle/>
          <a:p>
            <a:pPr indent="0" marL="0">
              <a:buNone/>
            </a:pPr>
            <a:r>
              <a:rPr lang="en-US" sz="1200" dirty="0">
                <a:solidFill>
                  <a:schemeClr val="tx2"/>
                </a:solidFill>
              </a:rPr>
              <a:t>Run 2 is tuned on the same 25 questions, so treat it as optimistic. The 5 remaining misses add an extra column (4) or label quarters differently (1), not wrong logic. Exact-text match is only 12% because correct SQL is written differently.</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Hosting options and what they cost</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3108960"/>
                <a:gridCol w="5788152"/>
                <a:gridCol w="2194560"/>
              </a:tblGrid>
              <a:tr h="457200">
                <a:tc>
                  <a:txBody>
                    <a:bodyPr/>
                    <a:lstStyle/>
                    <a:p>
                      <a:pPr indent="0" marL="0">
                        <a:buNone/>
                      </a:pPr>
                      <a:r>
                        <a:rPr lang="en-US" sz="1500" b="1" dirty="0">
                          <a:solidFill>
                            <a:srgbClr val="FFFFFF"/>
                          </a:solidFill>
                        </a:rPr>
                        <a:t>Option</a:t>
                      </a:r>
                      <a:endParaRPr lang="en-US" sz="15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indent="0" marL="0">
                        <a:buNone/>
                      </a:pPr>
                      <a:r>
                        <a:rPr lang="en-US" sz="1500" b="1" dirty="0">
                          <a:solidFill>
                            <a:srgbClr val="FFFFFF"/>
                          </a:solidFill>
                        </a:rPr>
                        <a:t>How it works</a:t>
                      </a:r>
                      <a:endParaRPr lang="en-US" sz="15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c>
                  <a:txBody>
                    <a:bodyPr/>
                    <a:lstStyle/>
                    <a:p>
                      <a:pPr algn="r" indent="0" marL="0">
                        <a:buNone/>
                      </a:pPr>
                      <a:r>
                        <a:rPr lang="en-US" sz="1500" b="1" dirty="0">
                          <a:solidFill>
                            <a:srgbClr val="FFFFFF"/>
                          </a:solidFill>
                        </a:rPr>
                        <a:t>Per month*</a:t>
                      </a:r>
                      <a:endParaRPr lang="en-US" sz="15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F46E5"/>
                    </a:solidFill>
                  </a:tcPr>
                </a:tc>
              </a:tr>
              <a:tr h="731520">
                <a:tc>
                  <a:txBody>
                    <a:bodyPr/>
                    <a:lstStyle/>
                    <a:p>
                      <a:pPr indent="0" marL="0">
                        <a:buNone/>
                      </a:pPr>
                      <a:r>
                        <a:rPr lang="en-US" sz="1500" b="1" dirty="0">
                          <a:solidFill>
                            <a:srgbClr val="0F172A"/>
                          </a:solidFill>
                        </a:rPr>
                        <a:t>Vercel (UI) + Render (API)</a:t>
                      </a:r>
                      <a:endParaRPr lang="en-US" sz="15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500" dirty="0">
                          <a:solidFill>
                            <a:srgbClr val="0F172A"/>
                          </a:solidFill>
                        </a:rPr>
                        <a:t>Easiest: push-to-deploy, disk and HTTPS built in. The API needs the 2 GB plan.</a:t>
                      </a:r>
                      <a:endParaRPr lang="en-US" sz="15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r" indent="0" marL="0">
                        <a:buNone/>
                      </a:pPr>
                      <a:r>
                        <a:rPr lang="en-US" sz="1500" b="1" dirty="0">
                          <a:solidFill>
                            <a:srgbClr val="0F172A"/>
                          </a:solidFill>
                        </a:rPr>
                        <a:t>about $25-35</a:t>
                      </a:r>
                      <a:endParaRPr lang="en-US" sz="15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731520">
                <a:tc>
                  <a:txBody>
                    <a:bodyPr/>
                    <a:lstStyle/>
                    <a:p>
                      <a:pPr indent="0" marL="0">
                        <a:buNone/>
                      </a:pPr>
                      <a:r>
                        <a:rPr lang="en-US" sz="1500" b="1" dirty="0">
                          <a:solidFill>
                            <a:srgbClr val="0F172A"/>
                          </a:solidFill>
                        </a:rPr>
                        <a:t>One Hetzner server</a:t>
                      </a:r>
                      <a:endParaRPr lang="en-US" sz="15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500" dirty="0">
                          <a:solidFill>
                            <a:srgbClr val="0F172A"/>
                          </a:solidFill>
                        </a:rPr>
                        <a:t>Cheapest: docker compose with automatic HTTPS. You manage the server.</a:t>
                      </a:r>
                      <a:endParaRPr lang="en-US" sz="15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r" indent="0" marL="0">
                        <a:buNone/>
                      </a:pPr>
                      <a:r>
                        <a:rPr lang="en-US" sz="1500" b="1" dirty="0">
                          <a:solidFill>
                            <a:srgbClr val="0F172A"/>
                          </a:solidFill>
                        </a:rPr>
                        <a:t>about 6.50 EUR</a:t>
                      </a:r>
                      <a:endParaRPr lang="en-US" sz="15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731520">
                <a:tc>
                  <a:txBody>
                    <a:bodyPr/>
                    <a:lstStyle/>
                    <a:p>
                      <a:pPr indent="0" marL="0">
                        <a:buNone/>
                      </a:pPr>
                      <a:r>
                        <a:rPr lang="en-US" sz="1500" b="1" dirty="0">
                          <a:solidFill>
                            <a:srgbClr val="0F172A"/>
                          </a:solidFill>
                        </a:rPr>
                        <a:t>Railway</a:t>
                      </a:r>
                      <a:endParaRPr lang="en-US" sz="15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500" dirty="0">
                          <a:solidFill>
                            <a:srgbClr val="0F172A"/>
                          </a:solidFill>
                        </a:rPr>
                        <a:t>Pay for the memory and CPU actually used. About 0.9 GB for the API.</a:t>
                      </a:r>
                      <a:endParaRPr lang="en-US" sz="15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algn="r" indent="0" marL="0">
                        <a:buNone/>
                      </a:pPr>
                      <a:r>
                        <a:rPr lang="en-US" sz="1500" b="1" dirty="0">
                          <a:solidFill>
                            <a:srgbClr val="0F172A"/>
                          </a:solidFill>
                        </a:rPr>
                        <a:t>about $10-19</a:t>
                      </a:r>
                      <a:endParaRPr lang="en-US" sz="15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4" name="Cost per question card"/>
          <p:cNvSpPr/>
          <p:nvPr/>
        </p:nvSpPr>
        <p:spPr>
          <a:xfrm>
            <a:off x="548640" y="4526280"/>
            <a:ext cx="5394960" cy="1417320"/>
          </a:xfrm>
          <a:prstGeom prst="roundRect">
            <a:avLst>
              <a:gd name="adj" fmla="val 7742"/>
            </a:avLst>
          </a:prstGeom>
          <a:solidFill>
            <a:schemeClr val="bg2"/>
          </a:solidFill>
          <a:ln w="12700">
            <a:solidFill>
              <a:schemeClr val="bg2"/>
            </a:solidFill>
            <a:prstDash val="solid"/>
          </a:ln>
        </p:spPr>
      </p:sp>
      <p:sp>
        <p:nvSpPr>
          <p:cNvPr id="5" name="Text 2"/>
          <p:cNvSpPr txBox="1"/>
          <p:nvPr/>
        </p:nvSpPr>
        <p:spPr>
          <a:xfrm>
            <a:off x="777240" y="4617720"/>
            <a:ext cx="4937760" cy="365760"/>
          </a:xfrm>
          <a:prstGeom prst="rect">
            <a:avLst/>
          </a:prstGeom>
          <a:noFill/>
          <a:ln/>
        </p:spPr>
        <p:txBody>
          <a:bodyPr wrap="square" lIns="0" tIns="0" rIns="0" bIns="0" rtlCol="0" anchor="ctr"/>
          <a:lstStyle/>
          <a:p>
            <a:pPr indent="0" marL="0">
              <a:buNone/>
            </a:pPr>
            <a:r>
              <a:rPr lang="en-US" sz="1800" b="1" dirty="0">
                <a:solidFill>
                  <a:schemeClr val="tx1"/>
                </a:solidFill>
              </a:rPr>
              <a:t>Plus Anthropic usage</a:t>
            </a:r>
            <a:endParaRPr lang="en-US" sz="1800" dirty="0"/>
          </a:p>
        </p:txBody>
      </p:sp>
      <p:sp>
        <p:nvSpPr>
          <p:cNvPr id="6" name="Text 3"/>
          <p:cNvSpPr txBox="1"/>
          <p:nvPr/>
        </p:nvSpPr>
        <p:spPr>
          <a:xfrm>
            <a:off x="777240" y="5029200"/>
            <a:ext cx="4937760" cy="868680"/>
          </a:xfrm>
          <a:prstGeom prst="rect">
            <a:avLst/>
          </a:prstGeom>
          <a:noFill/>
          <a:ln/>
        </p:spPr>
        <p:txBody>
          <a:bodyPr wrap="square" lIns="0" tIns="0" rIns="0" bIns="0" rtlCol="0" anchor="t"/>
          <a:lstStyle/>
          <a:p>
            <a:pPr indent="0" marL="0">
              <a:buNone/>
            </a:pPr>
            <a:r>
              <a:rPr lang="en-US" sz="1400" dirty="0">
                <a:solidFill>
                  <a:schemeClr val="tx2"/>
                </a:solidFill>
              </a:rPr>
              <a:t>About 1.1 cents per fresh question on Sonnet. Repeated questions are free through the semantic cache.</a:t>
            </a:r>
            <a:endParaRPr lang="en-US" sz="1400" dirty="0"/>
          </a:p>
        </p:txBody>
      </p:sp>
      <p:sp>
        <p:nvSpPr>
          <p:cNvPr id="7" name="Public site card"/>
          <p:cNvSpPr/>
          <p:nvPr/>
        </p:nvSpPr>
        <p:spPr>
          <a:xfrm>
            <a:off x="6245352" y="4526280"/>
            <a:ext cx="5394960" cy="1417320"/>
          </a:xfrm>
          <a:prstGeom prst="roundRect">
            <a:avLst>
              <a:gd name="adj" fmla="val 7742"/>
            </a:avLst>
          </a:prstGeom>
          <a:solidFill>
            <a:schemeClr val="bg2"/>
          </a:solidFill>
          <a:ln w="12700">
            <a:solidFill>
              <a:schemeClr val="bg2"/>
            </a:solidFill>
            <a:prstDash val="solid"/>
          </a:ln>
        </p:spPr>
      </p:sp>
      <p:sp>
        <p:nvSpPr>
          <p:cNvPr id="8" name="Text 5"/>
          <p:cNvSpPr txBox="1"/>
          <p:nvPr/>
        </p:nvSpPr>
        <p:spPr>
          <a:xfrm>
            <a:off x="6473952" y="4617720"/>
            <a:ext cx="4937760" cy="365760"/>
          </a:xfrm>
          <a:prstGeom prst="rect">
            <a:avLst/>
          </a:prstGeom>
          <a:noFill/>
          <a:ln/>
        </p:spPr>
        <p:txBody>
          <a:bodyPr wrap="square" lIns="0" tIns="0" rIns="0" bIns="0" rtlCol="0" anchor="ctr"/>
          <a:lstStyle/>
          <a:p>
            <a:pPr indent="0" marL="0">
              <a:buNone/>
            </a:pPr>
            <a:r>
              <a:rPr lang="en-US" sz="1800" b="1" dirty="0">
                <a:solidFill>
                  <a:schemeClr val="tx1"/>
                </a:solidFill>
              </a:rPr>
              <a:t>A public site needs an API key</a:t>
            </a:r>
            <a:endParaRPr lang="en-US" sz="1800" dirty="0"/>
          </a:p>
        </p:txBody>
      </p:sp>
      <p:sp>
        <p:nvSpPr>
          <p:cNvPr id="9" name="Text 6"/>
          <p:cNvSpPr txBox="1"/>
          <p:nvPr/>
        </p:nvSpPr>
        <p:spPr>
          <a:xfrm>
            <a:off x="6473952" y="5029200"/>
            <a:ext cx="4937760" cy="868680"/>
          </a:xfrm>
          <a:prstGeom prst="rect">
            <a:avLst/>
          </a:prstGeom>
          <a:noFill/>
          <a:ln/>
        </p:spPr>
        <p:txBody>
          <a:bodyPr wrap="square" lIns="0" tIns="0" rIns="0" bIns="0" rtlCol="0" anchor="t"/>
          <a:lstStyle/>
          <a:p>
            <a:pPr indent="0" marL="0">
              <a:buNone/>
            </a:pPr>
            <a:r>
              <a:rPr lang="en-US" sz="1400" dirty="0">
                <a:solidFill>
                  <a:schemeClr val="tx2"/>
                </a:solidFill>
              </a:rPr>
              <a:t>The Claude subscription login is personal. Public use adds an admin token, per-visitor rate limits and a daily cap.</a:t>
            </a:r>
            <a:endParaRPr lang="en-US" sz="1400" dirty="0"/>
          </a:p>
        </p:txBody>
      </p:sp>
      <p:sp>
        <p:nvSpPr>
          <p:cNvPr id="10" name="Text 7"/>
          <p:cNvSpPr txBox="1"/>
          <p:nvPr/>
        </p:nvSpPr>
        <p:spPr>
          <a:xfrm>
            <a:off x="548640" y="6080760"/>
            <a:ext cx="11091672" cy="256032"/>
          </a:xfrm>
          <a:prstGeom prst="rect">
            <a:avLst/>
          </a:prstGeom>
          <a:noFill/>
          <a:ln/>
        </p:spPr>
        <p:txBody>
          <a:bodyPr wrap="square" lIns="0" tIns="0" rIns="0" bIns="0" rtlCol="0" anchor="ctr"/>
          <a:lstStyle/>
          <a:p>
            <a:pPr indent="0" marL="0">
              <a:buNone/>
            </a:pPr>
            <a:r>
              <a:rPr lang="en-US" sz="1100" dirty="0">
                <a:solidFill>
                  <a:schemeClr val="tx2"/>
                </a:solidFill>
              </a:rPr>
              <a:t>*Estimates from provider price lists in 2026; verify before buying. Excludes tax and Anthropic usage.</a:t>
            </a:r>
            <a:endParaRPr lang="en-US" sz="11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bg1"/>
                </a:solidFill>
              </a:rPr>
              <a:t>Limits today, and what comes next</a:t>
            </a:r>
            <a:endParaRPr lang="en-US" sz="3600" dirty="0"/>
          </a:p>
        </p:txBody>
      </p:sp>
      <p:sp>
        <p:nvSpPr>
          <p:cNvPr id="3" name="Known limits circle"/>
          <p:cNvSpPr/>
          <p:nvPr/>
        </p:nvSpPr>
        <p:spPr>
          <a:xfrm>
            <a:off x="548640" y="1600200"/>
            <a:ext cx="640080" cy="640080"/>
          </a:xfrm>
          <a:prstGeom prst="ellipse">
            <a:avLst/>
          </a:prstGeom>
          <a:solidFill>
            <a:schemeClr val="accent3"/>
          </a:solidFill>
          <a:ln w="12700">
            <a:solidFill>
              <a:schemeClr val="accent3"/>
            </a:solidFill>
            <a:prstDash val="solid"/>
          </a:ln>
        </p:spPr>
      </p:sp>
      <p:pic>
        <p:nvPicPr>
          <p:cNvPr id="4" name="Known limits icon" descr="Known limits">    </p:cNvPr>
          <p:cNvPicPr>
            <a:picLocks noChangeAspect="1"/>
          </p:cNvPicPr>
          <p:nvPr/>
        </p:nvPicPr>
        <p:blipFill>
          <a:blip r:embed="rId1"/>
          <a:stretch>
            <a:fillRect/>
          </a:stretch>
        </p:blipFill>
        <p:spPr>
          <a:xfrm>
            <a:off x="715061" y="1766621"/>
            <a:ext cx="307238" cy="307238"/>
          </a:xfrm>
          <a:prstGeom prst="rect">
            <a:avLst/>
          </a:prstGeom>
        </p:spPr>
      </p:pic>
      <p:sp>
        <p:nvSpPr>
          <p:cNvPr id="5" name="Text 2"/>
          <p:cNvSpPr txBox="1"/>
          <p:nvPr/>
        </p:nvSpPr>
        <p:spPr>
          <a:xfrm>
            <a:off x="1417320" y="1600200"/>
            <a:ext cx="4389120" cy="640080"/>
          </a:xfrm>
          <a:prstGeom prst="rect">
            <a:avLst/>
          </a:prstGeom>
          <a:noFill/>
          <a:ln/>
        </p:spPr>
        <p:txBody>
          <a:bodyPr wrap="square" lIns="0" tIns="0" rIns="0" bIns="0" rtlCol="0" anchor="ctr"/>
          <a:lstStyle/>
          <a:p>
            <a:pPr indent="0" marL="0">
              <a:buNone/>
            </a:pPr>
            <a:r>
              <a:rPr lang="en-US" sz="2200" b="1" dirty="0">
                <a:solidFill>
                  <a:schemeClr val="bg1"/>
                </a:solidFill>
              </a:rPr>
              <a:t>Known limits</a:t>
            </a:r>
            <a:endParaRPr lang="en-US" sz="2200" dirty="0"/>
          </a:p>
        </p:txBody>
      </p:sp>
      <p:sp>
        <p:nvSpPr>
          <p:cNvPr id="6" name="Text 3"/>
          <p:cNvSpPr txBox="1"/>
          <p:nvPr/>
        </p:nvSpPr>
        <p:spPr>
          <a:xfrm>
            <a:off x="548640" y="2514600"/>
            <a:ext cx="5303520" cy="24688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2"/>
                </a:solidFill>
              </a:rPr>
              <a:t>SQLite is the only database run end to end</a:t>
            </a:r>
            <a:endParaRPr lang="en-US" sz="1800" dirty="0"/>
          </a:p>
          <a:p>
            <a:pPr marL="342900" indent="-342900">
              <a:spcAft>
                <a:spcPts val="800"/>
              </a:spcAft>
              <a:buSzPct val="100000"/>
              <a:buChar char="•"/>
            </a:pPr>
            <a:r>
              <a:rPr lang="en-US" sz="1800" dirty="0">
                <a:solidFill>
                  <a:schemeClr val="bg2"/>
                </a:solidFill>
              </a:rPr>
              <a:t>One shared admin token, no per-user logins</a:t>
            </a:r>
            <a:endParaRPr lang="en-US" sz="1800" dirty="0"/>
          </a:p>
          <a:p>
            <a:pPr marL="342900" indent="-342900">
              <a:spcAft>
                <a:spcPts val="800"/>
              </a:spcAft>
              <a:buSzPct val="100000"/>
              <a:buChar char="•"/>
            </a:pPr>
            <a:r>
              <a:rPr lang="en-US" sz="1800" dirty="0">
                <a:solidFill>
                  <a:schemeClr val="bg2"/>
                </a:solidFill>
              </a:rPr>
              <a:t>Linker matches names and synonyms, not meaning</a:t>
            </a:r>
            <a:endParaRPr lang="en-US" sz="1800" dirty="0"/>
          </a:p>
          <a:p>
            <a:pPr marL="342900" indent="-342900">
              <a:spcAft>
                <a:spcPts val="800"/>
              </a:spcAft>
              <a:buSzPct val="100000"/>
              <a:buChar char="•"/>
            </a:pPr>
            <a:r>
              <a:rPr lang="en-US" sz="1800" dirty="0">
                <a:solidFill>
                  <a:schemeClr val="bg2"/>
                </a:solidFill>
              </a:rPr>
              <a:t>Accuracy measured on one 25-question suite</a:t>
            </a:r>
            <a:endParaRPr lang="en-US" sz="1800" dirty="0"/>
          </a:p>
        </p:txBody>
      </p:sp>
      <p:sp>
        <p:nvSpPr>
          <p:cNvPr id="7" name="Next steps circle"/>
          <p:cNvSpPr/>
          <p:nvPr/>
        </p:nvSpPr>
        <p:spPr>
          <a:xfrm>
            <a:off x="6217920" y="1600200"/>
            <a:ext cx="640080" cy="640080"/>
          </a:xfrm>
          <a:prstGeom prst="ellipse">
            <a:avLst/>
          </a:prstGeom>
          <a:solidFill>
            <a:schemeClr val="accent2"/>
          </a:solidFill>
          <a:ln w="12700">
            <a:solidFill>
              <a:schemeClr val="accent2"/>
            </a:solidFill>
            <a:prstDash val="solid"/>
          </a:ln>
        </p:spPr>
      </p:sp>
      <p:pic>
        <p:nvPicPr>
          <p:cNvPr id="8" name="Next steps icon" descr="Next steps">    </p:cNvPr>
          <p:cNvPicPr>
            <a:picLocks noChangeAspect="1"/>
          </p:cNvPicPr>
          <p:nvPr/>
        </p:nvPicPr>
        <p:blipFill>
          <a:blip r:embed="rId2"/>
          <a:stretch>
            <a:fillRect/>
          </a:stretch>
        </p:blipFill>
        <p:spPr>
          <a:xfrm>
            <a:off x="6384341" y="1766621"/>
            <a:ext cx="307238" cy="307238"/>
          </a:xfrm>
          <a:prstGeom prst="rect">
            <a:avLst/>
          </a:prstGeom>
        </p:spPr>
      </p:pic>
      <p:sp>
        <p:nvSpPr>
          <p:cNvPr id="9" name="Text 5"/>
          <p:cNvSpPr txBox="1"/>
          <p:nvPr/>
        </p:nvSpPr>
        <p:spPr>
          <a:xfrm>
            <a:off x="7086600" y="1600200"/>
            <a:ext cx="4389120" cy="640080"/>
          </a:xfrm>
          <a:prstGeom prst="rect">
            <a:avLst/>
          </a:prstGeom>
          <a:noFill/>
          <a:ln/>
        </p:spPr>
        <p:txBody>
          <a:bodyPr wrap="square" lIns="0" tIns="0" rIns="0" bIns="0" rtlCol="0" anchor="ctr"/>
          <a:lstStyle/>
          <a:p>
            <a:pPr indent="0" marL="0">
              <a:buNone/>
            </a:pPr>
            <a:r>
              <a:rPr lang="en-US" sz="2200" b="1" dirty="0">
                <a:solidFill>
                  <a:schemeClr val="bg1"/>
                </a:solidFill>
              </a:rPr>
              <a:t>Next steps</a:t>
            </a:r>
            <a:endParaRPr lang="en-US" sz="2200" dirty="0"/>
          </a:p>
        </p:txBody>
      </p:sp>
      <p:sp>
        <p:nvSpPr>
          <p:cNvPr id="10" name="Text 6"/>
          <p:cNvSpPr txBox="1"/>
          <p:nvPr/>
        </p:nvSpPr>
        <p:spPr>
          <a:xfrm>
            <a:off x="6217920" y="2514600"/>
            <a:ext cx="5303520" cy="24688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2"/>
                </a:solidFill>
              </a:rPr>
              <a:t>Per-user login and roles</a:t>
            </a:r>
            <a:endParaRPr lang="en-US" sz="1800" dirty="0"/>
          </a:p>
          <a:p>
            <a:pPr marL="342900" indent="-342900">
              <a:spcAft>
                <a:spcPts val="800"/>
              </a:spcAft>
              <a:buSzPct val="100000"/>
              <a:buChar char="•"/>
            </a:pPr>
            <a:r>
              <a:rPr lang="en-US" sz="1800" dirty="0">
                <a:solidFill>
                  <a:schemeClr val="bg2"/>
                </a:solidFill>
              </a:rPr>
              <a:t>PostgreSQL and MySQL read-only roles</a:t>
            </a:r>
            <a:endParaRPr lang="en-US" sz="1800" dirty="0"/>
          </a:p>
          <a:p>
            <a:pPr marL="342900" indent="-342900">
              <a:spcAft>
                <a:spcPts val="800"/>
              </a:spcAft>
              <a:buSzPct val="100000"/>
              <a:buChar char="•"/>
            </a:pPr>
            <a:r>
              <a:rPr lang="en-US" sz="1800" dirty="0">
                <a:solidFill>
                  <a:schemeClr val="bg2"/>
                </a:solidFill>
              </a:rPr>
              <a:t>Feedback (was this right?) into the examples</a:t>
            </a:r>
            <a:endParaRPr lang="en-US" sz="1800" dirty="0"/>
          </a:p>
          <a:p>
            <a:pPr marL="342900" indent="-342900">
              <a:spcAft>
                <a:spcPts val="800"/>
              </a:spcAft>
              <a:buSzPct val="100000"/>
              <a:buChar char="•"/>
            </a:pPr>
            <a:r>
              <a:rPr lang="en-US" sz="1800" dirty="0">
                <a:solidFill>
                  <a:schemeClr val="bg2"/>
                </a:solidFill>
              </a:rPr>
              <a:t>A cheaper model for the simple stages</a:t>
            </a:r>
            <a:endParaRPr lang="en-US" sz="1800" dirty="0"/>
          </a:p>
        </p:txBody>
      </p:sp>
      <p:sp>
        <p:nvSpPr>
          <p:cNvPr id="11" name="Text 7"/>
          <p:cNvSpPr txBox="1"/>
          <p:nvPr/>
        </p:nvSpPr>
        <p:spPr>
          <a:xfrm>
            <a:off x="548640" y="5257800"/>
            <a:ext cx="7315200" cy="822960"/>
          </a:xfrm>
          <a:prstGeom prst="rect">
            <a:avLst/>
          </a:prstGeom>
          <a:noFill/>
          <a:ln/>
        </p:spPr>
        <p:txBody>
          <a:bodyPr wrap="square" lIns="0" tIns="0" rIns="0" bIns="0" rtlCol="0" anchor="ctr"/>
          <a:lstStyle/>
          <a:p>
            <a:pPr indent="0" marL="0">
              <a:buNone/>
            </a:pPr>
            <a:r>
              <a:rPr lang="en-US" sz="4000" b="1" dirty="0">
                <a:solidFill>
                  <a:schemeClr val="bg1"/>
                </a:solidFill>
              </a:rPr>
              <a:t>Questions?</a:t>
            </a:r>
            <a:endParaRPr lang="en-US" sz="4000" dirty="0"/>
          </a:p>
        </p:txBody>
      </p:sp>
      <p:sp>
        <p:nvSpPr>
          <p:cNvPr id="12" name="Text 8"/>
          <p:cNvSpPr txBox="1"/>
          <p:nvPr/>
        </p:nvSpPr>
        <p:spPr>
          <a:xfrm>
            <a:off x="548640" y="5989320"/>
            <a:ext cx="7315200" cy="365760"/>
          </a:xfrm>
          <a:prstGeom prst="rect">
            <a:avLst/>
          </a:prstGeom>
          <a:noFill/>
          <a:ln/>
        </p:spPr>
        <p:txBody>
          <a:bodyPr wrap="square" lIns="0" tIns="0" rIns="0" bIns="0" rtlCol="0" anchor="ctr"/>
          <a:lstStyle/>
          <a:p>
            <a:pPr indent="0" marL="0">
              <a:buNone/>
            </a:pPr>
            <a:r>
              <a:rPr lang="en-US" sz="1600" dirty="0">
                <a:solidFill>
                  <a:srgbClr val="CBD5E1"/>
                </a:solidFill>
              </a:rPr>
              <a:t>github.com/mrgsaravanan/querymind</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5E1"/>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QueryMind">
  <a:themeElements>
    <a:clrScheme name="QueryMind">
      <a:dk1>
        <a:srgbClr val="0F172A"/>
      </a:dk1>
      <a:lt1>
        <a:srgbClr val="FFFFFF"/>
      </a:lt1>
      <a:dk2>
        <a:srgbClr val="475569"/>
      </a:dk2>
      <a:lt2>
        <a:srgbClr val="F1F5F9"/>
      </a:lt2>
      <a:accent1>
        <a:srgbClr val="4F46E5"/>
      </a:accent1>
      <a:accent2>
        <a:srgbClr val="059669"/>
      </a:accent2>
      <a:accent3>
        <a:srgbClr val="D97706"/>
      </a:accent3>
      <a:accent4>
        <a:srgbClr val="DC2626"/>
      </a:accent4>
      <a:accent5>
        <a:srgbClr val="0284C7"/>
      </a:accent5>
      <a:accent6>
        <a:srgbClr val="7C3AED"/>
      </a:accent6>
      <a:hlink>
        <a:srgbClr val="4F46E5"/>
      </a:hlink>
      <a:folHlink>
        <a:srgbClr val="7C3AED"/>
      </a:folHlink>
    </a:clrScheme>
    <a:fontScheme name="QueryMin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QueryMind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QueryMind AI - Architecture and Demo</dc:title>
  <dc:subject>PptxGenJS Presentation</dc:subject>
  <dc:creator>Saravanan Gopalakrishnan</dc:creator>
  <cp:lastModifiedBy>Saravanan Gopalakrishnan</cp:lastModifiedBy>
  <cp:revision>1</cp:revision>
  <dcterms:created xsi:type="dcterms:W3CDTF">2026-10-24T13:19:18Z</dcterms:created>
  <dcterms:modified xsi:type="dcterms:W3CDTF">2026-10-24T13:19:18Z</dcterms:modified>
</cp:coreProperties>
</file>